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bookmarkIdSeed="2">
  <p:sldMasterIdLst>
    <p:sldMasterId id="2147483660" r:id="rId1"/>
  </p:sldMasterIdLst>
  <p:notesMasterIdLst>
    <p:notesMasterId r:id="rId22"/>
  </p:notesMasterIdLst>
  <p:sldIdLst>
    <p:sldId id="256" r:id="rId2"/>
    <p:sldId id="714" r:id="rId3"/>
    <p:sldId id="674" r:id="rId4"/>
    <p:sldId id="713" r:id="rId5"/>
    <p:sldId id="715" r:id="rId6"/>
    <p:sldId id="716" r:id="rId7"/>
    <p:sldId id="728" r:id="rId8"/>
    <p:sldId id="676" r:id="rId9"/>
    <p:sldId id="717" r:id="rId10"/>
    <p:sldId id="718" r:id="rId11"/>
    <p:sldId id="727" r:id="rId12"/>
    <p:sldId id="719" r:id="rId13"/>
    <p:sldId id="721" r:id="rId14"/>
    <p:sldId id="722" r:id="rId15"/>
    <p:sldId id="723" r:id="rId16"/>
    <p:sldId id="724" r:id="rId17"/>
    <p:sldId id="725" r:id="rId18"/>
    <p:sldId id="726" r:id="rId19"/>
    <p:sldId id="720" r:id="rId20"/>
    <p:sldId id="303"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046E38A8-FE07-4DC6-BADE-7A27A967B611}">
          <p14:sldIdLst>
            <p14:sldId id="256"/>
            <p14:sldId id="714"/>
            <p14:sldId id="674"/>
            <p14:sldId id="713"/>
            <p14:sldId id="715"/>
            <p14:sldId id="716"/>
            <p14:sldId id="728"/>
            <p14:sldId id="676"/>
            <p14:sldId id="717"/>
            <p14:sldId id="718"/>
            <p14:sldId id="727"/>
            <p14:sldId id="719"/>
            <p14:sldId id="721"/>
            <p14:sldId id="722"/>
            <p14:sldId id="723"/>
            <p14:sldId id="724"/>
            <p14:sldId id="725"/>
            <p14:sldId id="726"/>
            <p14:sldId id="720"/>
            <p14:sldId id="30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FAADC"/>
    <a:srgbClr val="8BBCFF"/>
    <a:srgbClr val="333F50"/>
    <a:srgbClr val="8497B0"/>
    <a:srgbClr val="2F5597"/>
    <a:srgbClr val="626CC7"/>
    <a:srgbClr val="323B8D"/>
    <a:srgbClr val="21275D"/>
    <a:srgbClr val="161A3E"/>
    <a:srgbClr val="20386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915AAF6-0C24-494A-B336-78FFBB2C5D21}" v="3" dt="2026-03-08T15:19:29.37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204" autoAdjust="0"/>
    <p:restoredTop sz="93447" autoAdjust="0"/>
  </p:normalViewPr>
  <p:slideViewPr>
    <p:cSldViewPr snapToGrid="0">
      <p:cViewPr varScale="1">
        <p:scale>
          <a:sx n="77" d="100"/>
          <a:sy n="77" d="100"/>
        </p:scale>
        <p:origin x="902" y="62"/>
      </p:cViewPr>
      <p:guideLst/>
    </p:cSldViewPr>
  </p:slideViewPr>
  <p:notesTextViewPr>
    <p:cViewPr>
      <p:scale>
        <a:sx n="75" d="100"/>
        <a:sy n="75"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imran Khatnani" userId="a741433030e970de" providerId="LiveId" clId="{3590D4FD-F120-424C-8510-06D608D62F1B}"/>
    <pc:docChg chg="custSel addSld modSld sldOrd addSection delSection">
      <pc:chgData name="Simran Khatnani" userId="a741433030e970de" providerId="LiveId" clId="{3590D4FD-F120-424C-8510-06D608D62F1B}" dt="2026-03-08T15:51:16.537" v="305" actId="27636"/>
      <pc:docMkLst>
        <pc:docMk/>
      </pc:docMkLst>
      <pc:sldChg chg="ord">
        <pc:chgData name="Simran Khatnani" userId="a741433030e970de" providerId="LiveId" clId="{3590D4FD-F120-424C-8510-06D608D62F1B}" dt="2026-03-08T15:22:58.345" v="71"/>
        <pc:sldMkLst>
          <pc:docMk/>
          <pc:sldMk cId="1024334718" sldId="256"/>
        </pc:sldMkLst>
      </pc:sldChg>
      <pc:sldChg chg="ord">
        <pc:chgData name="Simran Khatnani" userId="a741433030e970de" providerId="LiveId" clId="{3590D4FD-F120-424C-8510-06D608D62F1B}" dt="2026-03-08T15:22:58.345" v="71"/>
        <pc:sldMkLst>
          <pc:docMk/>
          <pc:sldMk cId="2438371579" sldId="303"/>
        </pc:sldMkLst>
      </pc:sldChg>
      <pc:sldChg chg="ord">
        <pc:chgData name="Simran Khatnani" userId="a741433030e970de" providerId="LiveId" clId="{3590D4FD-F120-424C-8510-06D608D62F1B}" dt="2026-03-08T15:22:58.345" v="71"/>
        <pc:sldMkLst>
          <pc:docMk/>
          <pc:sldMk cId="2272459462" sldId="674"/>
        </pc:sldMkLst>
      </pc:sldChg>
      <pc:sldChg chg="ord">
        <pc:chgData name="Simran Khatnani" userId="a741433030e970de" providerId="LiveId" clId="{3590D4FD-F120-424C-8510-06D608D62F1B}" dt="2026-03-08T15:22:58.345" v="71"/>
        <pc:sldMkLst>
          <pc:docMk/>
          <pc:sldMk cId="2845992452" sldId="676"/>
        </pc:sldMkLst>
      </pc:sldChg>
      <pc:sldChg chg="ord">
        <pc:chgData name="Simran Khatnani" userId="a741433030e970de" providerId="LiveId" clId="{3590D4FD-F120-424C-8510-06D608D62F1B}" dt="2026-03-08T15:22:58.345" v="71"/>
        <pc:sldMkLst>
          <pc:docMk/>
          <pc:sldMk cId="1344420264" sldId="713"/>
        </pc:sldMkLst>
      </pc:sldChg>
      <pc:sldChg chg="ord">
        <pc:chgData name="Simran Khatnani" userId="a741433030e970de" providerId="LiveId" clId="{3590D4FD-F120-424C-8510-06D608D62F1B}" dt="2026-03-08T15:22:58.345" v="71"/>
        <pc:sldMkLst>
          <pc:docMk/>
          <pc:sldMk cId="1953804542" sldId="714"/>
        </pc:sldMkLst>
      </pc:sldChg>
      <pc:sldChg chg="ord">
        <pc:chgData name="Simran Khatnani" userId="a741433030e970de" providerId="LiveId" clId="{3590D4FD-F120-424C-8510-06D608D62F1B}" dt="2026-03-08T15:22:58.345" v="71"/>
        <pc:sldMkLst>
          <pc:docMk/>
          <pc:sldMk cId="1453602640" sldId="715"/>
        </pc:sldMkLst>
      </pc:sldChg>
      <pc:sldChg chg="ord">
        <pc:chgData name="Simran Khatnani" userId="a741433030e970de" providerId="LiveId" clId="{3590D4FD-F120-424C-8510-06D608D62F1B}" dt="2026-03-08T15:22:58.345" v="71"/>
        <pc:sldMkLst>
          <pc:docMk/>
          <pc:sldMk cId="3743163221" sldId="716"/>
        </pc:sldMkLst>
      </pc:sldChg>
      <pc:sldChg chg="ord">
        <pc:chgData name="Simran Khatnani" userId="a741433030e970de" providerId="LiveId" clId="{3590D4FD-F120-424C-8510-06D608D62F1B}" dt="2026-03-08T15:22:58.345" v="71"/>
        <pc:sldMkLst>
          <pc:docMk/>
          <pc:sldMk cId="523970420" sldId="717"/>
        </pc:sldMkLst>
      </pc:sldChg>
      <pc:sldChg chg="ord">
        <pc:chgData name="Simran Khatnani" userId="a741433030e970de" providerId="LiveId" clId="{3590D4FD-F120-424C-8510-06D608D62F1B}" dt="2026-03-08T15:22:58.345" v="71"/>
        <pc:sldMkLst>
          <pc:docMk/>
          <pc:sldMk cId="612044312" sldId="718"/>
        </pc:sldMkLst>
      </pc:sldChg>
      <pc:sldChg chg="ord">
        <pc:chgData name="Simran Khatnani" userId="a741433030e970de" providerId="LiveId" clId="{3590D4FD-F120-424C-8510-06D608D62F1B}" dt="2026-03-08T15:22:58.345" v="71"/>
        <pc:sldMkLst>
          <pc:docMk/>
          <pc:sldMk cId="3380672960" sldId="719"/>
        </pc:sldMkLst>
      </pc:sldChg>
      <pc:sldChg chg="ord">
        <pc:chgData name="Simran Khatnani" userId="a741433030e970de" providerId="LiveId" clId="{3590D4FD-F120-424C-8510-06D608D62F1B}" dt="2026-03-08T15:22:58.345" v="71"/>
        <pc:sldMkLst>
          <pc:docMk/>
          <pc:sldMk cId="2143988283" sldId="720"/>
        </pc:sldMkLst>
      </pc:sldChg>
      <pc:sldChg chg="ord">
        <pc:chgData name="Simran Khatnani" userId="a741433030e970de" providerId="LiveId" clId="{3590D4FD-F120-424C-8510-06D608D62F1B}" dt="2026-03-08T15:22:58.345" v="71"/>
        <pc:sldMkLst>
          <pc:docMk/>
          <pc:sldMk cId="2321209437" sldId="721"/>
        </pc:sldMkLst>
      </pc:sldChg>
      <pc:sldChg chg="ord">
        <pc:chgData name="Simran Khatnani" userId="a741433030e970de" providerId="LiveId" clId="{3590D4FD-F120-424C-8510-06D608D62F1B}" dt="2026-03-08T15:22:58.345" v="71"/>
        <pc:sldMkLst>
          <pc:docMk/>
          <pc:sldMk cId="1341959021" sldId="722"/>
        </pc:sldMkLst>
      </pc:sldChg>
      <pc:sldChg chg="ord">
        <pc:chgData name="Simran Khatnani" userId="a741433030e970de" providerId="LiveId" clId="{3590D4FD-F120-424C-8510-06D608D62F1B}" dt="2026-03-08T15:22:58.345" v="71"/>
        <pc:sldMkLst>
          <pc:docMk/>
          <pc:sldMk cId="2926648549" sldId="723"/>
        </pc:sldMkLst>
      </pc:sldChg>
      <pc:sldChg chg="modSp mod ord">
        <pc:chgData name="Simran Khatnani" userId="a741433030e970de" providerId="LiveId" clId="{3590D4FD-F120-424C-8510-06D608D62F1B}" dt="2026-03-08T15:51:16.537" v="305" actId="27636"/>
        <pc:sldMkLst>
          <pc:docMk/>
          <pc:sldMk cId="2699646711" sldId="724"/>
        </pc:sldMkLst>
        <pc:spChg chg="mod">
          <ac:chgData name="Simran Khatnani" userId="a741433030e970de" providerId="LiveId" clId="{3590D4FD-F120-424C-8510-06D608D62F1B}" dt="2026-03-08T15:51:16.537" v="305" actId="27636"/>
          <ac:spMkLst>
            <pc:docMk/>
            <pc:sldMk cId="2699646711" sldId="724"/>
            <ac:spMk id="3" creationId="{D845A72F-1548-4558-C439-7AD3F551B43B}"/>
          </ac:spMkLst>
        </pc:spChg>
        <pc:picChg chg="mod">
          <ac:chgData name="Simran Khatnani" userId="a741433030e970de" providerId="LiveId" clId="{3590D4FD-F120-424C-8510-06D608D62F1B}" dt="2026-03-08T15:47:34.610" v="97" actId="1076"/>
          <ac:picMkLst>
            <pc:docMk/>
            <pc:sldMk cId="2699646711" sldId="724"/>
            <ac:picMk id="7" creationId="{A82B7AF1-55F3-5A19-90D1-41C08EFD1B24}"/>
          </ac:picMkLst>
        </pc:picChg>
      </pc:sldChg>
      <pc:sldChg chg="ord">
        <pc:chgData name="Simran Khatnani" userId="a741433030e970de" providerId="LiveId" clId="{3590D4FD-F120-424C-8510-06D608D62F1B}" dt="2026-03-08T15:22:58.345" v="71"/>
        <pc:sldMkLst>
          <pc:docMk/>
          <pc:sldMk cId="2370619166" sldId="725"/>
        </pc:sldMkLst>
      </pc:sldChg>
      <pc:sldChg chg="ord">
        <pc:chgData name="Simran Khatnani" userId="a741433030e970de" providerId="LiveId" clId="{3590D4FD-F120-424C-8510-06D608D62F1B}" dt="2026-03-08T15:22:58.345" v="71"/>
        <pc:sldMkLst>
          <pc:docMk/>
          <pc:sldMk cId="1961625420" sldId="726"/>
        </pc:sldMkLst>
      </pc:sldChg>
      <pc:sldChg chg="addSp delSp modSp mod ord modClrScheme chgLayout">
        <pc:chgData name="Simran Khatnani" userId="a741433030e970de" providerId="LiveId" clId="{3590D4FD-F120-424C-8510-06D608D62F1B}" dt="2026-03-08T15:22:58.345" v="71"/>
        <pc:sldMkLst>
          <pc:docMk/>
          <pc:sldMk cId="465238134" sldId="727"/>
        </pc:sldMkLst>
        <pc:spChg chg="mod ord">
          <ac:chgData name="Simran Khatnani" userId="a741433030e970de" providerId="LiveId" clId="{3590D4FD-F120-424C-8510-06D608D62F1B}" dt="2026-03-08T15:21:28.312" v="68" actId="13926"/>
          <ac:spMkLst>
            <pc:docMk/>
            <pc:sldMk cId="465238134" sldId="727"/>
            <ac:spMk id="2" creationId="{85EEFC98-1F03-5109-664F-12DE83068D28}"/>
          </ac:spMkLst>
        </pc:spChg>
        <pc:spChg chg="del mod ord">
          <ac:chgData name="Simran Khatnani" userId="a741433030e970de" providerId="LiveId" clId="{3590D4FD-F120-424C-8510-06D608D62F1B}" dt="2026-03-08T15:14:10.666" v="27" actId="700"/>
          <ac:spMkLst>
            <pc:docMk/>
            <pc:sldMk cId="465238134" sldId="727"/>
            <ac:spMk id="3" creationId="{15C5EE31-47EF-2301-70CA-19F7FD1A5527}"/>
          </ac:spMkLst>
        </pc:spChg>
        <pc:spChg chg="add del mod ord">
          <ac:chgData name="Simran Khatnani" userId="a741433030e970de" providerId="LiveId" clId="{3590D4FD-F120-424C-8510-06D608D62F1B}" dt="2026-03-08T15:15:15.089" v="28" actId="931"/>
          <ac:spMkLst>
            <pc:docMk/>
            <pc:sldMk cId="465238134" sldId="727"/>
            <ac:spMk id="4" creationId="{757B02CC-8C32-6EA6-964E-30CE5724DAC5}"/>
          </ac:spMkLst>
        </pc:spChg>
        <pc:spChg chg="add mod">
          <ac:chgData name="Simran Khatnani" userId="a741433030e970de" providerId="LiveId" clId="{3590D4FD-F120-424C-8510-06D608D62F1B}" dt="2026-03-08T15:16:06.464" v="36" actId="20577"/>
          <ac:spMkLst>
            <pc:docMk/>
            <pc:sldMk cId="465238134" sldId="727"/>
            <ac:spMk id="7" creationId="{0B89DAF3-913C-7DD5-99F9-75EA7F62E8E0}"/>
          </ac:spMkLst>
        </pc:spChg>
        <pc:picChg chg="add mod ord">
          <ac:chgData name="Simran Khatnani" userId="a741433030e970de" providerId="LiveId" clId="{3590D4FD-F120-424C-8510-06D608D62F1B}" dt="2026-03-08T15:15:33.719" v="32" actId="1076"/>
          <ac:picMkLst>
            <pc:docMk/>
            <pc:sldMk cId="465238134" sldId="727"/>
            <ac:picMk id="6" creationId="{B08FF7F2-9CF3-23FA-4A13-7C57B73286AE}"/>
          </ac:picMkLst>
        </pc:picChg>
      </pc:sldChg>
      <pc:sldChg chg="addSp delSp modSp new mod ord modClrScheme chgLayout">
        <pc:chgData name="Simran Khatnani" userId="a741433030e970de" providerId="LiveId" clId="{3590D4FD-F120-424C-8510-06D608D62F1B}" dt="2026-03-08T15:27:01.701" v="85" actId="1076"/>
        <pc:sldMkLst>
          <pc:docMk/>
          <pc:sldMk cId="4048183549" sldId="728"/>
        </pc:sldMkLst>
        <pc:spChg chg="del mod ord">
          <ac:chgData name="Simran Khatnani" userId="a741433030e970de" providerId="LiveId" clId="{3590D4FD-F120-424C-8510-06D608D62F1B}" dt="2026-03-08T15:18:37.322" v="40" actId="700"/>
          <ac:spMkLst>
            <pc:docMk/>
            <pc:sldMk cId="4048183549" sldId="728"/>
            <ac:spMk id="2" creationId="{2FDA06B9-83D7-1272-321E-068369A2DC6A}"/>
          </ac:spMkLst>
        </pc:spChg>
        <pc:spChg chg="del mod ord">
          <ac:chgData name="Simran Khatnani" userId="a741433030e970de" providerId="LiveId" clId="{3590D4FD-F120-424C-8510-06D608D62F1B}" dt="2026-03-08T15:18:37.322" v="40" actId="700"/>
          <ac:spMkLst>
            <pc:docMk/>
            <pc:sldMk cId="4048183549" sldId="728"/>
            <ac:spMk id="3" creationId="{6CD392FD-413C-BDBC-1583-867111449D97}"/>
          </ac:spMkLst>
        </pc:spChg>
        <pc:spChg chg="add del mod ord">
          <ac:chgData name="Simran Khatnani" userId="a741433030e970de" providerId="LiveId" clId="{3590D4FD-F120-424C-8510-06D608D62F1B}" dt="2026-03-08T15:18:52.737" v="41" actId="700"/>
          <ac:spMkLst>
            <pc:docMk/>
            <pc:sldMk cId="4048183549" sldId="728"/>
            <ac:spMk id="4" creationId="{2BB23E3C-8F08-E4F3-AA7B-41F47992210C}"/>
          </ac:spMkLst>
        </pc:spChg>
        <pc:spChg chg="add del mod ord">
          <ac:chgData name="Simran Khatnani" userId="a741433030e970de" providerId="LiveId" clId="{3590D4FD-F120-424C-8510-06D608D62F1B}" dt="2026-03-08T15:18:52.737" v="41" actId="700"/>
          <ac:spMkLst>
            <pc:docMk/>
            <pc:sldMk cId="4048183549" sldId="728"/>
            <ac:spMk id="5" creationId="{4B32C3A2-98D6-2CDE-504E-63CCAAA01B0D}"/>
          </ac:spMkLst>
        </pc:spChg>
        <pc:spChg chg="add mod ord">
          <ac:chgData name="Simran Khatnani" userId="a741433030e970de" providerId="LiveId" clId="{3590D4FD-F120-424C-8510-06D608D62F1B}" dt="2026-03-08T15:26:09.900" v="79" actId="700"/>
          <ac:spMkLst>
            <pc:docMk/>
            <pc:sldMk cId="4048183549" sldId="728"/>
            <ac:spMk id="6" creationId="{6008A1DE-5DE3-B0C8-1021-E6EAA5E6663F}"/>
          </ac:spMkLst>
        </pc:spChg>
        <pc:spChg chg="add mod ord">
          <ac:chgData name="Simran Khatnani" userId="a741433030e970de" providerId="LiveId" clId="{3590D4FD-F120-424C-8510-06D608D62F1B}" dt="2026-03-08T15:26:22.356" v="80" actId="14100"/>
          <ac:spMkLst>
            <pc:docMk/>
            <pc:sldMk cId="4048183549" sldId="728"/>
            <ac:spMk id="7" creationId="{C5FE2981-5BFD-6929-A021-E44693C315D4}"/>
          </ac:spMkLst>
        </pc:spChg>
        <pc:spChg chg="add del mod">
          <ac:chgData name="Simran Khatnani" userId="a741433030e970de" providerId="LiveId" clId="{3590D4FD-F120-424C-8510-06D608D62F1B}" dt="2026-03-08T15:20:36.624" v="65" actId="21"/>
          <ac:spMkLst>
            <pc:docMk/>
            <pc:sldMk cId="4048183549" sldId="728"/>
            <ac:spMk id="8" creationId="{7C27BF07-48FB-DD36-B116-221DD7929B57}"/>
          </ac:spMkLst>
        </pc:spChg>
        <pc:picChg chg="add mod">
          <ac:chgData name="Simran Khatnani" userId="a741433030e970de" providerId="LiveId" clId="{3590D4FD-F120-424C-8510-06D608D62F1B}" dt="2026-03-08T15:27:01.701" v="85" actId="1076"/>
          <ac:picMkLst>
            <pc:docMk/>
            <pc:sldMk cId="4048183549" sldId="728"/>
            <ac:picMk id="10" creationId="{6869B5EF-23F1-816F-82EF-11E0E47926E3}"/>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0077D8-B575-4753-B8FD-F5736649C91E}" type="datetimeFigureOut">
              <a:rPr lang="en-IN" smtClean="0"/>
              <a:t>08-03-2026</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FFB008-8E38-46F5-BCB9-8CFEF233CF3A}" type="slidenum">
              <a:rPr lang="en-IN" smtClean="0"/>
              <a:t>‹#›</a:t>
            </a:fld>
            <a:endParaRPr lang="en-IN" dirty="0"/>
          </a:p>
        </p:txBody>
      </p:sp>
    </p:spTree>
    <p:extLst>
      <p:ext uri="{BB962C8B-B14F-4D97-AF65-F5344CB8AC3E}">
        <p14:creationId xmlns:p14="http://schemas.microsoft.com/office/powerpoint/2010/main" val="40341884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8</a:t>
            </a:fld>
            <a:endParaRPr lang="en-IN" dirty="0"/>
          </a:p>
        </p:txBody>
      </p:sp>
    </p:spTree>
    <p:extLst>
      <p:ext uri="{BB962C8B-B14F-4D97-AF65-F5344CB8AC3E}">
        <p14:creationId xmlns:p14="http://schemas.microsoft.com/office/powerpoint/2010/main" val="179788368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grpSp>
        <p:nvGrpSpPr>
          <p:cNvPr id="21" name="Group 20">
            <a:extLst>
              <a:ext uri="{FF2B5EF4-FFF2-40B4-BE49-F238E27FC236}">
                <a16:creationId xmlns:a16="http://schemas.microsoft.com/office/drawing/2014/main" id="{1D4C31DA-14CA-CFBA-5089-9BCD0585380D}"/>
              </a:ext>
            </a:extLst>
          </p:cNvPr>
          <p:cNvGrpSpPr/>
          <p:nvPr userDrawn="1"/>
        </p:nvGrpSpPr>
        <p:grpSpPr>
          <a:xfrm>
            <a:off x="-21770" y="0"/>
            <a:ext cx="12213771" cy="6858000"/>
            <a:chOff x="-21770" y="0"/>
            <a:chExt cx="12213771" cy="6858000"/>
          </a:xfrm>
        </p:grpSpPr>
        <p:pic>
          <p:nvPicPr>
            <p:cNvPr id="6" name="Picture 5" descr="Tech Background&quot; Images – Browse 8,227 Stock Photos, Vectors, and Video |  Adobe Stock">
              <a:extLst>
                <a:ext uri="{FF2B5EF4-FFF2-40B4-BE49-F238E27FC236}">
                  <a16:creationId xmlns:a16="http://schemas.microsoft.com/office/drawing/2014/main" id="{912EDB8F-0820-57F6-5CDA-EEB6AC9EF357}"/>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97530BAD-0593-FBF1-1D42-9B727191475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017794" y="913775"/>
              <a:ext cx="5159490" cy="1423752"/>
            </a:xfrm>
            <a:prstGeom prst="rect">
              <a:avLst/>
            </a:prstGeom>
          </p:spPr>
        </p:pic>
      </p:grpSp>
    </p:spTree>
    <p:extLst>
      <p:ext uri="{BB962C8B-B14F-4D97-AF65-F5344CB8AC3E}">
        <p14:creationId xmlns:p14="http://schemas.microsoft.com/office/powerpoint/2010/main" val="13311268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Content Placeholder 2"/>
          <p:cNvSpPr>
            <a:spLocks noGrp="1"/>
          </p:cNvSpPr>
          <p:nvPr>
            <p:ph idx="1"/>
          </p:nvPr>
        </p:nvSpPr>
        <p:spPr>
          <a:xfrm>
            <a:off x="678884" y="1675075"/>
            <a:ext cx="1083423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126523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ne Third">
    <p:spTree>
      <p:nvGrpSpPr>
        <p:cNvPr id="1" name=""/>
        <p:cNvGrpSpPr/>
        <p:nvPr/>
      </p:nvGrpSpPr>
      <p:grpSpPr>
        <a:xfrm>
          <a:off x="0" y="0"/>
          <a:ext cx="0" cy="0"/>
          <a:chOff x="0" y="0"/>
          <a:chExt cx="0" cy="0"/>
        </a:xfrm>
      </p:grpSpPr>
      <p:sp>
        <p:nvSpPr>
          <p:cNvPr id="3" name="Content Placeholder 2"/>
          <p:cNvSpPr>
            <a:spLocks noGrp="1"/>
          </p:cNvSpPr>
          <p:nvPr>
            <p:ph idx="1"/>
          </p:nvPr>
        </p:nvSpPr>
        <p:spPr>
          <a:xfrm>
            <a:off x="4455269" y="603666"/>
            <a:ext cx="7057847" cy="5454235"/>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2" name="Title 1"/>
          <p:cNvSpPr>
            <a:spLocks noGrp="1"/>
          </p:cNvSpPr>
          <p:nvPr>
            <p:ph type="title"/>
          </p:nvPr>
        </p:nvSpPr>
        <p:spPr>
          <a:xfrm>
            <a:off x="838202" y="2049670"/>
            <a:ext cx="2743200" cy="2562226"/>
          </a:xfrm>
        </p:spPr>
        <p:txBody>
          <a:bodyPr/>
          <a:lstStyle>
            <a:lvl1pPr>
              <a:defRPr>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13612385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7055274"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705527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807720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7" name="Picture 6">
            <a:extLst>
              <a:ext uri="{FF2B5EF4-FFF2-40B4-BE49-F238E27FC236}">
                <a16:creationId xmlns:a16="http://schemas.microsoft.com/office/drawing/2014/main" id="{F13DF77B-C435-B418-C899-54652105D04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40135611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Half &amp; Half">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5107239" cy="612775"/>
          </a:xfrm>
        </p:spPr>
        <p:txBody>
          <a:bodyPr/>
          <a:lstStyle/>
          <a:p>
            <a:r>
              <a:rPr lang="en-US" dirty="0"/>
              <a:t>Click to edit Master title style</a:t>
            </a:r>
          </a:p>
        </p:txBody>
      </p:sp>
      <p:sp>
        <p:nvSpPr>
          <p:cNvPr id="3" name="Content Placeholder 2"/>
          <p:cNvSpPr>
            <a:spLocks noGrp="1"/>
          </p:cNvSpPr>
          <p:nvPr>
            <p:ph idx="1"/>
          </p:nvPr>
        </p:nvSpPr>
        <p:spPr>
          <a:xfrm>
            <a:off x="678881" y="1659836"/>
            <a:ext cx="5107239"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6096000" y="0"/>
            <a:ext cx="60960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4" name="Picture 3">
            <a:extLst>
              <a:ext uri="{FF2B5EF4-FFF2-40B4-BE49-F238E27FC236}">
                <a16:creationId xmlns:a16="http://schemas.microsoft.com/office/drawing/2014/main" id="{4258C05D-B60D-14D1-7105-F6719232542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1852858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ne Third Flow Errow">
    <p:spTree>
      <p:nvGrpSpPr>
        <p:cNvPr id="1" name=""/>
        <p:cNvGrpSpPr/>
        <p:nvPr/>
      </p:nvGrpSpPr>
      <p:grpSpPr>
        <a:xfrm>
          <a:off x="0" y="0"/>
          <a:ext cx="0" cy="0"/>
          <a:chOff x="0" y="0"/>
          <a:chExt cx="0" cy="0"/>
        </a:xfrm>
      </p:grpSpPr>
      <p:sp>
        <p:nvSpPr>
          <p:cNvPr id="2" name="Title 1"/>
          <p:cNvSpPr>
            <a:spLocks noGrp="1"/>
          </p:cNvSpPr>
          <p:nvPr>
            <p:ph type="title"/>
          </p:nvPr>
        </p:nvSpPr>
        <p:spPr>
          <a:xfrm>
            <a:off x="4455269" y="603666"/>
            <a:ext cx="7057847" cy="612775"/>
          </a:xfrm>
        </p:spPr>
        <p:txBody>
          <a:bodyPr/>
          <a:lstStyle/>
          <a:p>
            <a:r>
              <a:rPr lang="en-US" dirty="0"/>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Arrow: Pentagon 5">
            <a:extLst>
              <a:ext uri="{FF2B5EF4-FFF2-40B4-BE49-F238E27FC236}">
                <a16:creationId xmlns:a16="http://schemas.microsoft.com/office/drawing/2014/main" id="{360409B4-C617-2A18-6BFD-309E9F59F1A6}"/>
              </a:ext>
            </a:extLst>
          </p:cNvPr>
          <p:cNvSpPr/>
          <p:nvPr userDrawn="1"/>
        </p:nvSpPr>
        <p:spPr>
          <a:xfrm>
            <a:off x="1" y="0"/>
            <a:ext cx="4114800" cy="6858000"/>
          </a:xfrm>
          <a:prstGeom prst="homePlate">
            <a:avLst>
              <a:gd name="adj" fmla="val 16049"/>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678882" y="3122614"/>
            <a:ext cx="2978720"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p>
        </p:txBody>
      </p:sp>
    </p:spTree>
    <p:extLst>
      <p:ext uri="{BB962C8B-B14F-4D97-AF65-F5344CB8AC3E}">
        <p14:creationId xmlns:p14="http://schemas.microsoft.com/office/powerpoint/2010/main" val="5999928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One Thir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38200" y="3122614"/>
            <a:ext cx="2819401"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rgbClr val="1D1B58"/>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id="{BC7368D9-5898-B04D-9CD2-C5A3736BFFA6}"/>
              </a:ext>
            </a:extLst>
          </p:cNvPr>
          <p:cNvSpPr/>
          <p:nvPr userDrawn="1"/>
        </p:nvSpPr>
        <p:spPr>
          <a:xfrm>
            <a:off x="3454417" y="0"/>
            <a:ext cx="8737584" cy="6858000"/>
          </a:xfrm>
          <a:custGeom>
            <a:avLst/>
            <a:gdLst>
              <a:gd name="connsiteX0" fmla="*/ 0 w 9601184"/>
              <a:gd name="connsiteY0" fmla="*/ 0 h 6858000"/>
              <a:gd name="connsiteX1" fmla="*/ 9601184 w 9601184"/>
              <a:gd name="connsiteY1" fmla="*/ 0 h 6858000"/>
              <a:gd name="connsiteX2" fmla="*/ 9601184 w 9601184"/>
              <a:gd name="connsiteY2" fmla="*/ 6858000 h 6858000"/>
              <a:gd name="connsiteX3" fmla="*/ 0 w 9601184"/>
              <a:gd name="connsiteY3" fmla="*/ 6858000 h 6858000"/>
              <a:gd name="connsiteX4" fmla="*/ 660384 w 9601184"/>
              <a:gd name="connsiteY4" fmla="*/ 3429000 h 6858000"/>
              <a:gd name="connsiteX5" fmla="*/ 0 w 9601184"/>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01184" h="6858000">
                <a:moveTo>
                  <a:pt x="0" y="0"/>
                </a:moveTo>
                <a:lnTo>
                  <a:pt x="9601184" y="0"/>
                </a:lnTo>
                <a:lnTo>
                  <a:pt x="9601184" y="6858000"/>
                </a:lnTo>
                <a:lnTo>
                  <a:pt x="0" y="6858000"/>
                </a:lnTo>
                <a:lnTo>
                  <a:pt x="660384"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sp>
        <p:nvSpPr>
          <p:cNvPr id="2" name="Title 1"/>
          <p:cNvSpPr>
            <a:spLocks noGrp="1"/>
          </p:cNvSpPr>
          <p:nvPr>
            <p:ph type="title"/>
          </p:nvPr>
        </p:nvSpPr>
        <p:spPr>
          <a:xfrm>
            <a:off x="4455269" y="603666"/>
            <a:ext cx="7057847" cy="612775"/>
          </a:xfrm>
        </p:spPr>
        <p:txBody>
          <a:bodyPr/>
          <a:lstStyle>
            <a:lvl1pPr>
              <a:defRPr>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icture 3">
            <a:extLst>
              <a:ext uri="{FF2B5EF4-FFF2-40B4-BE49-F238E27FC236}">
                <a16:creationId xmlns:a16="http://schemas.microsoft.com/office/drawing/2014/main" id="{BC1D7751-B046-E6FF-E802-137A168948C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6455390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6687118"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6687118"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567565" y="3064248"/>
            <a:ext cx="3314556"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id="{D78CF48E-B68F-E9BA-8398-FF8CD727D1A9}"/>
              </a:ext>
            </a:extLst>
          </p:cNvPr>
          <p:cNvSpPr/>
          <p:nvPr userDrawn="1"/>
        </p:nvSpPr>
        <p:spPr>
          <a:xfrm>
            <a:off x="7543800" y="0"/>
            <a:ext cx="4648201" cy="6858000"/>
          </a:xfrm>
          <a:custGeom>
            <a:avLst/>
            <a:gdLst>
              <a:gd name="connsiteX0" fmla="*/ 0 w 3818882"/>
              <a:gd name="connsiteY0" fmla="*/ 0 h 6858000"/>
              <a:gd name="connsiteX1" fmla="*/ 3818882 w 3818882"/>
              <a:gd name="connsiteY1" fmla="*/ 0 h 6858000"/>
              <a:gd name="connsiteX2" fmla="*/ 3818882 w 3818882"/>
              <a:gd name="connsiteY2" fmla="*/ 6858000 h 6858000"/>
              <a:gd name="connsiteX3" fmla="*/ 0 w 3818882"/>
              <a:gd name="connsiteY3" fmla="*/ 6858000 h 6858000"/>
              <a:gd name="connsiteX4" fmla="*/ 796282 w 3818882"/>
              <a:gd name="connsiteY4" fmla="*/ 3429000 h 6858000"/>
              <a:gd name="connsiteX5" fmla="*/ 0 w 3818882"/>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18882" h="6858000">
                <a:moveTo>
                  <a:pt x="0" y="0"/>
                </a:moveTo>
                <a:lnTo>
                  <a:pt x="3818882" y="0"/>
                </a:lnTo>
                <a:lnTo>
                  <a:pt x="3818882" y="6858000"/>
                </a:lnTo>
                <a:lnTo>
                  <a:pt x="0" y="6858000"/>
                </a:lnTo>
                <a:lnTo>
                  <a:pt x="796282"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pic>
        <p:nvPicPr>
          <p:cNvPr id="4" name="Picture 3">
            <a:extLst>
              <a:ext uri="{FF2B5EF4-FFF2-40B4-BE49-F238E27FC236}">
                <a16:creationId xmlns:a16="http://schemas.microsoft.com/office/drawing/2014/main" id="{5BC983E8-29C2-9FD4-5029-201C1DDD5E8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9075013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8883" y="1709738"/>
            <a:ext cx="10834234" cy="2852737"/>
          </a:xfrm>
        </p:spPr>
        <p:txBody>
          <a:bodyPr anchor="b"/>
          <a:lstStyle>
            <a:lvl1pPr>
              <a:defRPr sz="6000"/>
            </a:lvl1pPr>
          </a:lstStyle>
          <a:p>
            <a:r>
              <a:rPr lang="en-US" dirty="0"/>
              <a:t>Click to edit Master title style</a:t>
            </a:r>
          </a:p>
        </p:txBody>
      </p:sp>
      <p:sp>
        <p:nvSpPr>
          <p:cNvPr id="3" name="Text Placeholder 2"/>
          <p:cNvSpPr>
            <a:spLocks noGrp="1"/>
          </p:cNvSpPr>
          <p:nvPr>
            <p:ph type="body" idx="1"/>
          </p:nvPr>
        </p:nvSpPr>
        <p:spPr>
          <a:xfrm>
            <a:off x="678883" y="4589464"/>
            <a:ext cx="10834234"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2072784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10834233" cy="612775"/>
          </a:xfrm>
        </p:spPr>
        <p:txBody>
          <a:bodyPr/>
          <a:lstStyle/>
          <a:p>
            <a:r>
              <a:rPr lang="en-US" dirty="0"/>
              <a:t>Click to edit Master title style</a:t>
            </a:r>
          </a:p>
        </p:txBody>
      </p:sp>
      <p:sp>
        <p:nvSpPr>
          <p:cNvPr id="3" name="Content Placeholder 2"/>
          <p:cNvSpPr>
            <a:spLocks noGrp="1"/>
          </p:cNvSpPr>
          <p:nvPr>
            <p:ph sz="half" idx="1"/>
          </p:nvPr>
        </p:nvSpPr>
        <p:spPr>
          <a:xfrm>
            <a:off x="678881" y="1659835"/>
            <a:ext cx="5340919"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199" y="1659835"/>
            <a:ext cx="5340917"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99343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10834234" cy="612775"/>
          </a:xfrm>
        </p:spPr>
        <p:txBody>
          <a:bodyPr/>
          <a:lstStyle/>
          <a:p>
            <a:r>
              <a:rPr lang="en-US" dirty="0"/>
              <a:t>Click to edit Master title style</a:t>
            </a:r>
          </a:p>
        </p:txBody>
      </p:sp>
      <p:sp>
        <p:nvSpPr>
          <p:cNvPr id="3" name="Text Placeholder 2"/>
          <p:cNvSpPr>
            <a:spLocks noGrp="1"/>
          </p:cNvSpPr>
          <p:nvPr>
            <p:ph type="body" idx="1"/>
          </p:nvPr>
        </p:nvSpPr>
        <p:spPr>
          <a:xfrm>
            <a:off x="678881" y="1659834"/>
            <a:ext cx="5318693"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78881" y="2505075"/>
            <a:ext cx="5318693"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2" y="1659834"/>
            <a:ext cx="5340914"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2" y="2505075"/>
            <a:ext cx="5340914"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197890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a:t>Click to edit Master title style</a:t>
            </a:r>
          </a:p>
        </p:txBody>
      </p:sp>
    </p:spTree>
    <p:extLst>
      <p:ext uri="{BB962C8B-B14F-4D97-AF65-F5344CB8AC3E}">
        <p14:creationId xmlns:p14="http://schemas.microsoft.com/office/powerpoint/2010/main" val="28312565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55931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4093145" cy="1453734"/>
          </a:xfrm>
        </p:spPr>
        <p:txBody>
          <a:bodyPr anchor="b"/>
          <a:lstStyle>
            <a:lvl1pPr>
              <a:defRPr sz="3200"/>
            </a:lvl1pPr>
          </a:lstStyle>
          <a:p>
            <a:r>
              <a:rPr lang="en-US" dirty="0"/>
              <a:t>Click to edit Master title style</a:t>
            </a:r>
          </a:p>
        </p:txBody>
      </p:sp>
      <p:sp>
        <p:nvSpPr>
          <p:cNvPr id="3" name="Content Placeholder 2"/>
          <p:cNvSpPr>
            <a:spLocks noGrp="1"/>
          </p:cNvSpPr>
          <p:nvPr>
            <p:ph idx="1"/>
          </p:nvPr>
        </p:nvSpPr>
        <p:spPr>
          <a:xfrm>
            <a:off x="5183189" y="1659835"/>
            <a:ext cx="6329928" cy="4201215"/>
          </a:xfrm>
          <a:prstGeom prst="rect">
            <a:avLst/>
          </a:prstGeom>
        </p:spPr>
        <p:txBody>
          <a:bodyPr/>
          <a:lstStyle>
            <a:lvl1pPr>
              <a:defRPr sz="3200">
                <a:solidFill>
                  <a:schemeClr val="bg2">
                    <a:lumMod val="10000"/>
                  </a:schemeClr>
                </a:solidFill>
              </a:defRPr>
            </a:lvl1pPr>
            <a:lvl2pPr>
              <a:defRPr sz="2800">
                <a:solidFill>
                  <a:schemeClr val="bg2">
                    <a:lumMod val="10000"/>
                  </a:schemeClr>
                </a:solidFill>
              </a:defRPr>
            </a:lvl2pPr>
            <a:lvl3pPr>
              <a:defRPr sz="2400">
                <a:solidFill>
                  <a:schemeClr val="bg2">
                    <a:lumMod val="10000"/>
                  </a:schemeClr>
                </a:solidFill>
              </a:defRPr>
            </a:lvl3pPr>
            <a:lvl4pPr>
              <a:defRPr sz="2000">
                <a:solidFill>
                  <a:schemeClr val="bg2">
                    <a:lumMod val="10000"/>
                  </a:schemeClr>
                </a:solidFill>
              </a:defRPr>
            </a:lvl4pPr>
            <a:lvl5pPr>
              <a:defRPr sz="2000">
                <a:solidFill>
                  <a:schemeClr val="bg2">
                    <a:lumMod val="10000"/>
                  </a:schemeClr>
                </a:solidFill>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678881" y="2315183"/>
            <a:ext cx="4093145" cy="3553805"/>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Tree>
    <p:extLst>
      <p:ext uri="{BB962C8B-B14F-4D97-AF65-F5344CB8AC3E}">
        <p14:creationId xmlns:p14="http://schemas.microsoft.com/office/powerpoint/2010/main" val="18283493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Vertical Text Placeholder 2"/>
          <p:cNvSpPr>
            <a:spLocks noGrp="1"/>
          </p:cNvSpPr>
          <p:nvPr>
            <p:ph type="body" orient="vert" idx="1"/>
          </p:nvPr>
        </p:nvSpPr>
        <p:spPr>
          <a:xfrm>
            <a:off x="678884" y="1659834"/>
            <a:ext cx="10834234" cy="4166933"/>
          </a:xfrm>
          <a:prstGeom prst="rect">
            <a:avLst/>
          </a:prstGeom>
        </p:spPr>
        <p:txBody>
          <a:bodyPr vert="eaVert"/>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750536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pic>
        <p:nvPicPr>
          <p:cNvPr id="4" name="Picture 3" descr="Tech Background&quot; Images – Browse 8,227 Stock Photos, Vectors, and Video |  Adobe Stock">
            <a:extLst>
              <a:ext uri="{FF2B5EF4-FFF2-40B4-BE49-F238E27FC236}">
                <a16:creationId xmlns:a16="http://schemas.microsoft.com/office/drawing/2014/main" id="{19625874-6531-A345-C3ED-8BD86E0E300E}"/>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sp>
        <p:nvSpPr>
          <p:cNvPr id="2" name="Vertical Title 1"/>
          <p:cNvSpPr>
            <a:spLocks noGrp="1"/>
          </p:cNvSpPr>
          <p:nvPr>
            <p:ph type="title" orient="vert" hasCustomPrompt="1"/>
          </p:nvPr>
        </p:nvSpPr>
        <p:spPr>
          <a:xfrm rot="16200000">
            <a:off x="4770665" y="-2959994"/>
            <a:ext cx="2628900" cy="12213771"/>
          </a:xfrm>
        </p:spPr>
        <p:txBody>
          <a:bodyPr vert="eaVert">
            <a:normAutofit/>
          </a:bodyPr>
          <a:lstStyle>
            <a:lvl1pPr algn="ctr">
              <a:defRPr sz="8000">
                <a:solidFill>
                  <a:schemeClr val="bg1"/>
                </a:solidFill>
              </a:defRPr>
            </a:lvl1pPr>
          </a:lstStyle>
          <a:p>
            <a:r>
              <a:rPr lang="en-US" dirty="0"/>
              <a:t>Thank You</a:t>
            </a:r>
          </a:p>
        </p:txBody>
      </p:sp>
    </p:spTree>
    <p:extLst>
      <p:ext uri="{BB962C8B-B14F-4D97-AF65-F5344CB8AC3E}">
        <p14:creationId xmlns:p14="http://schemas.microsoft.com/office/powerpoint/2010/main" val="41674742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78884" y="603666"/>
            <a:ext cx="10834232" cy="612775"/>
          </a:xfrm>
          <a:prstGeom prst="rect">
            <a:avLst/>
          </a:prstGeom>
        </p:spPr>
        <p:txBody>
          <a:bodyPr vert="horz" lIns="0" tIns="0" rIns="0" bIns="0" rtlCol="0" anchor="ctr">
            <a:normAutofit/>
          </a:bodyPr>
          <a:lstStyle/>
          <a:p>
            <a:r>
              <a:rPr lang="en-US" dirty="0"/>
              <a:t>Click to edit Master title style</a:t>
            </a:r>
          </a:p>
        </p:txBody>
      </p:sp>
      <p:sp>
        <p:nvSpPr>
          <p:cNvPr id="3" name="Text Placeholder 2"/>
          <p:cNvSpPr>
            <a:spLocks noGrp="1"/>
          </p:cNvSpPr>
          <p:nvPr>
            <p:ph type="body" idx="1"/>
          </p:nvPr>
        </p:nvSpPr>
        <p:spPr>
          <a:xfrm>
            <a:off x="678884" y="1659835"/>
            <a:ext cx="10834234" cy="439806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052" name="Picture 4" descr="Top Ranked Data Science Institute, Classroom Plus Online Training | Boston  Institute of Analytics">
            <a:extLst>
              <a:ext uri="{FF2B5EF4-FFF2-40B4-BE49-F238E27FC236}">
                <a16:creationId xmlns:a16="http://schemas.microsoft.com/office/drawing/2014/main" id="{D55A4135-B2E5-3A1C-9614-E010D1062B85}"/>
              </a:ext>
            </a:extLst>
          </p:cNvPr>
          <p:cNvPicPr>
            <a:picLocks noChangeAspect="1" noChangeArrowheads="1"/>
          </p:cNvPicPr>
          <p:nvPr userDrawn="1"/>
        </p:nvPicPr>
        <p:blipFill rotWithShape="1">
          <a:blip r:embed="rId18" cstate="print">
            <a:extLst>
              <a:ext uri="{28A0092B-C50C-407E-A947-70E740481C1C}">
                <a14:useLocalDpi xmlns:a14="http://schemas.microsoft.com/office/drawing/2010/main" val="0"/>
              </a:ext>
            </a:extLst>
          </a:blip>
          <a:srcRect l="4000" r="3112"/>
          <a:stretch/>
        </p:blipFill>
        <p:spPr bwMode="auto">
          <a:xfrm>
            <a:off x="9493777" y="6115409"/>
            <a:ext cx="2019339" cy="548917"/>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3665DF22-91AD-CE85-A78A-CF35969DE003}"/>
              </a:ext>
            </a:extLst>
          </p:cNvPr>
          <p:cNvSpPr/>
          <p:nvPr userDrawn="1"/>
        </p:nvSpPr>
        <p:spPr>
          <a:xfrm>
            <a:off x="678883" y="6207305"/>
            <a:ext cx="7474517" cy="3651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sz="1100" b="1" dirty="0">
                <a:solidFill>
                  <a:schemeClr val="bg2">
                    <a:lumMod val="75000"/>
                  </a:schemeClr>
                </a:solidFill>
              </a:rPr>
              <a:t>CONFIDENTIAL</a:t>
            </a:r>
            <a:r>
              <a:rPr lang="en-US" sz="1100" dirty="0">
                <a:solidFill>
                  <a:schemeClr val="bg2">
                    <a:lumMod val="75000"/>
                  </a:schemeClr>
                </a:solidFill>
              </a:rPr>
              <a:t>: The information in this document belongs to Boston Institute of Analytics LLC. Any unauthorized sharing of this material is prohibited and subject to legal action under breach of IP and confidentiality clauses. </a:t>
            </a:r>
          </a:p>
        </p:txBody>
      </p:sp>
    </p:spTree>
    <p:extLst>
      <p:ext uri="{BB962C8B-B14F-4D97-AF65-F5344CB8AC3E}">
        <p14:creationId xmlns:p14="http://schemas.microsoft.com/office/powerpoint/2010/main" val="162817835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72" r:id="rId3"/>
    <p:sldLayoutId id="2147483673" r:id="rId4"/>
    <p:sldLayoutId id="2147483674" r:id="rId5"/>
    <p:sldLayoutId id="2147483675" r:id="rId6"/>
    <p:sldLayoutId id="2147483677" r:id="rId7"/>
    <p:sldLayoutId id="2147483676" r:id="rId8"/>
    <p:sldLayoutId id="2147483663" r:id="rId9"/>
    <p:sldLayoutId id="2147483664" r:id="rId10"/>
    <p:sldLayoutId id="2147483665" r:id="rId11"/>
    <p:sldLayoutId id="2147483666" r:id="rId12"/>
    <p:sldLayoutId id="2147483667" r:id="rId13"/>
    <p:sldLayoutId id="2147483668" r:id="rId14"/>
    <p:sldLayoutId id="2147483670" r:id="rId15"/>
    <p:sldLayoutId id="2147483671" r:id="rId16"/>
  </p:sldLayoutIdLst>
  <p:txStyles>
    <p:titleStyle>
      <a:lvl1pPr algn="l" defTabSz="914400" rtl="0" eaLnBrk="1" latinLnBrk="0" hangingPunct="1">
        <a:lnSpc>
          <a:spcPct val="90000"/>
        </a:lnSpc>
        <a:spcBef>
          <a:spcPct val="0"/>
        </a:spcBef>
        <a:buNone/>
        <a:defRPr sz="3400" b="1" kern="1200">
          <a:solidFill>
            <a:schemeClr val="tx1"/>
          </a:solidFill>
          <a:latin typeface="Calibri" panose="020F050202020403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Calibri" panose="020F0502020204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Calibri" panose="020F0502020204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Calibri" panose="020F0502020204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A225F15-9B21-01FF-BD6D-D04F30F7A091}"/>
              </a:ext>
            </a:extLst>
          </p:cNvPr>
          <p:cNvSpPr/>
          <p:nvPr/>
        </p:nvSpPr>
        <p:spPr>
          <a:xfrm>
            <a:off x="-109330" y="3313706"/>
            <a:ext cx="12301331" cy="4571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800" b="1" dirty="0">
                <a:latin typeface="Calibri" panose="020F0502020204030204" pitchFamily="34" charset="0"/>
              </a:rPr>
              <a:t>Name of Capstone Project</a:t>
            </a:r>
          </a:p>
          <a:p>
            <a:pPr algn="ctr"/>
            <a:endParaRPr lang="en-US" sz="4800" b="1" dirty="0">
              <a:latin typeface="Calibri" panose="020F0502020204030204" pitchFamily="34" charset="0"/>
            </a:endParaRPr>
          </a:p>
          <a:p>
            <a:pPr algn="ctr"/>
            <a:r>
              <a:rPr lang="en-US" sz="2800" b="1" dirty="0"/>
              <a:t>Fraud Detection in Mobile Financial Transactions Using Machine Learning</a:t>
            </a:r>
            <a:endParaRPr lang="en-US" sz="2800" b="1" dirty="0">
              <a:latin typeface="Calibri" panose="020F0502020204030204" pitchFamily="34" charset="0"/>
            </a:endParaRPr>
          </a:p>
        </p:txBody>
      </p:sp>
    </p:spTree>
    <p:extLst>
      <p:ext uri="{BB962C8B-B14F-4D97-AF65-F5344CB8AC3E}">
        <p14:creationId xmlns:p14="http://schemas.microsoft.com/office/powerpoint/2010/main" val="10243347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B360-A630-EE21-210D-844E85048949}"/>
              </a:ext>
            </a:extLst>
          </p:cNvPr>
          <p:cNvSpPr>
            <a:spLocks noGrp="1"/>
          </p:cNvSpPr>
          <p:nvPr>
            <p:ph type="title"/>
          </p:nvPr>
        </p:nvSpPr>
        <p:spPr/>
        <p:txBody>
          <a:bodyPr/>
          <a:lstStyle/>
          <a:p>
            <a:r>
              <a:rPr lang="en-US" dirty="0">
                <a:highlight>
                  <a:srgbClr val="C0C0C0"/>
                </a:highlight>
              </a:rPr>
              <a:t>Project Overview</a:t>
            </a:r>
            <a:endParaRPr lang="en-IN" dirty="0">
              <a:highlight>
                <a:srgbClr val="C0C0C0"/>
              </a:highlight>
            </a:endParaRPr>
          </a:p>
        </p:txBody>
      </p:sp>
      <p:sp>
        <p:nvSpPr>
          <p:cNvPr id="3" name="Content Placeholder 2">
            <a:extLst>
              <a:ext uri="{FF2B5EF4-FFF2-40B4-BE49-F238E27FC236}">
                <a16:creationId xmlns:a16="http://schemas.microsoft.com/office/drawing/2014/main" id="{67B003C9-103A-47E6-D7EB-87D0A8CB5431}"/>
              </a:ext>
            </a:extLst>
          </p:cNvPr>
          <p:cNvSpPr>
            <a:spLocks noGrp="1"/>
          </p:cNvSpPr>
          <p:nvPr>
            <p:ph idx="1"/>
          </p:nvPr>
        </p:nvSpPr>
        <p:spPr/>
        <p:txBody>
          <a:bodyPr/>
          <a:lstStyle/>
          <a:p>
            <a:r>
              <a:rPr lang="en-US" dirty="0"/>
              <a:t>This project aims to enhance the accuracy of detecting fraud in mobile financial transactions using machine learning techniques.</a:t>
            </a:r>
          </a:p>
          <a:p>
            <a:r>
              <a:rPr lang="en-US" dirty="0"/>
              <a:t>The objective is to develop a robust predictive model capable of identifying fraudulent transactions in real-time, enabling organizations to:</a:t>
            </a:r>
          </a:p>
          <a:p>
            <a:pPr marL="0" indent="0">
              <a:buNone/>
            </a:pPr>
            <a:r>
              <a:rPr lang="en-US" dirty="0"/>
              <a:t>• Improve transaction security</a:t>
            </a:r>
            <a:br>
              <a:rPr lang="en-US" dirty="0"/>
            </a:br>
            <a:r>
              <a:rPr lang="en-US" dirty="0"/>
              <a:t>• Reduce financial losses</a:t>
            </a:r>
            <a:br>
              <a:rPr lang="en-US" dirty="0"/>
            </a:br>
            <a:r>
              <a:rPr lang="en-US" dirty="0"/>
              <a:t>• Gain insights into fraud patterns</a:t>
            </a:r>
            <a:br>
              <a:rPr lang="en-US" dirty="0"/>
            </a:br>
            <a:r>
              <a:rPr lang="en-US" dirty="0"/>
              <a:t>• Support data-driven decision-making</a:t>
            </a:r>
          </a:p>
          <a:p>
            <a:endParaRPr lang="en-IN" dirty="0"/>
          </a:p>
        </p:txBody>
      </p:sp>
    </p:spTree>
    <p:extLst>
      <p:ext uri="{BB962C8B-B14F-4D97-AF65-F5344CB8AC3E}">
        <p14:creationId xmlns:p14="http://schemas.microsoft.com/office/powerpoint/2010/main" val="19538045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853F5-3FF5-F820-B593-B4F4AF27A2B6}"/>
              </a:ext>
            </a:extLst>
          </p:cNvPr>
          <p:cNvSpPr>
            <a:spLocks noGrp="1"/>
          </p:cNvSpPr>
          <p:nvPr>
            <p:ph type="title"/>
          </p:nvPr>
        </p:nvSpPr>
        <p:spPr/>
        <p:txBody>
          <a:bodyPr>
            <a:normAutofit/>
          </a:bodyPr>
          <a:lstStyle/>
          <a:p>
            <a:r>
              <a:rPr lang="en-US" sz="4400" dirty="0">
                <a:highlight>
                  <a:srgbClr val="C0C0C0"/>
                </a:highlight>
              </a:rPr>
              <a:t>Project Structure</a:t>
            </a:r>
            <a:endParaRPr lang="en-IN" sz="4400" dirty="0">
              <a:highlight>
                <a:srgbClr val="C0C0C0"/>
              </a:highlight>
            </a:endParaRPr>
          </a:p>
        </p:txBody>
      </p:sp>
      <p:sp>
        <p:nvSpPr>
          <p:cNvPr id="3" name="Content Placeholder 2">
            <a:extLst>
              <a:ext uri="{FF2B5EF4-FFF2-40B4-BE49-F238E27FC236}">
                <a16:creationId xmlns:a16="http://schemas.microsoft.com/office/drawing/2014/main" id="{5498D2CD-3F24-F46B-D0FD-F213BDB36EC1}"/>
              </a:ext>
            </a:extLst>
          </p:cNvPr>
          <p:cNvSpPr>
            <a:spLocks noGrp="1"/>
          </p:cNvSpPr>
          <p:nvPr>
            <p:ph idx="1"/>
          </p:nvPr>
        </p:nvSpPr>
        <p:spPr>
          <a:prstGeom prst="rect">
            <a:avLst/>
          </a:prstGeom>
        </p:spPr>
        <p:txBody>
          <a:bodyPr>
            <a:normAutofit fontScale="55000" lnSpcReduction="20000"/>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marL="0" indent="0">
              <a:buNone/>
            </a:pPr>
            <a:r>
              <a:rPr lang="en-IN" dirty="0"/>
              <a:t>Fraud-Detection-ML-Project/</a:t>
            </a:r>
            <a:br>
              <a:rPr lang="en-IN" dirty="0"/>
            </a:br>
            <a:r>
              <a:rPr lang="en-IN" dirty="0"/>
              <a:t>│</a:t>
            </a:r>
            <a:br>
              <a:rPr lang="en-IN" dirty="0"/>
            </a:br>
            <a:r>
              <a:rPr lang="en-IN" dirty="0"/>
              <a:t>├── data/</a:t>
            </a:r>
            <a:br>
              <a:rPr lang="en-IN" dirty="0"/>
            </a:br>
            <a:r>
              <a:rPr lang="en-IN" dirty="0"/>
              <a:t>│ ├── raw/Fraud_Analysis_Dataset.csv</a:t>
            </a:r>
            <a:br>
              <a:rPr lang="en-IN" dirty="0"/>
            </a:br>
            <a:r>
              <a:rPr lang="en-IN" dirty="0"/>
              <a:t>│ └── processed/fraud_predictions.csv</a:t>
            </a:r>
            <a:br>
              <a:rPr lang="en-IN" dirty="0"/>
            </a:br>
            <a:r>
              <a:rPr lang="en-IN" dirty="0"/>
              <a:t>│</a:t>
            </a:r>
            <a:br>
              <a:rPr lang="en-IN" dirty="0"/>
            </a:br>
            <a:r>
              <a:rPr lang="en-IN" dirty="0"/>
              <a:t>├── notebooks/</a:t>
            </a:r>
            <a:br>
              <a:rPr lang="en-IN" dirty="0"/>
            </a:br>
            <a:r>
              <a:rPr lang="en-IN" dirty="0"/>
              <a:t>│ └── </a:t>
            </a:r>
            <a:r>
              <a:rPr lang="en-IN" dirty="0" err="1"/>
              <a:t>Fraud_Detection_Analysis</a:t>
            </a:r>
            <a:br>
              <a:rPr lang="en-IN" dirty="0"/>
            </a:br>
            <a:r>
              <a:rPr lang="en-IN" dirty="0"/>
              <a:t>│</a:t>
            </a:r>
            <a:br>
              <a:rPr lang="en-IN" dirty="0"/>
            </a:br>
            <a:r>
              <a:rPr lang="en-IN" dirty="0"/>
              <a:t>├── </a:t>
            </a:r>
            <a:r>
              <a:rPr lang="en-IN" dirty="0" err="1"/>
              <a:t>src</a:t>
            </a:r>
            <a:r>
              <a:rPr lang="en-IN" dirty="0"/>
              <a:t>/</a:t>
            </a:r>
            <a:br>
              <a:rPr lang="en-IN" dirty="0"/>
            </a:br>
            <a:r>
              <a:rPr lang="en-IN" dirty="0"/>
              <a:t>│ ├── preprocessing.py</a:t>
            </a:r>
            <a:br>
              <a:rPr lang="en-IN" dirty="0"/>
            </a:br>
            <a:r>
              <a:rPr lang="en-IN" dirty="0"/>
              <a:t>│ ├── train.py</a:t>
            </a:r>
            <a:br>
              <a:rPr lang="en-IN" dirty="0"/>
            </a:br>
            <a:r>
              <a:rPr lang="en-IN" dirty="0"/>
              <a:t>│ ├── evaluate.py</a:t>
            </a:r>
            <a:br>
              <a:rPr lang="en-IN" dirty="0"/>
            </a:br>
            <a:r>
              <a:rPr lang="en-IN" dirty="0"/>
              <a:t>│ └── main.py</a:t>
            </a:r>
            <a:br>
              <a:rPr lang="en-IN" dirty="0"/>
            </a:br>
            <a:r>
              <a:rPr lang="en-IN" dirty="0"/>
              <a:t>│</a:t>
            </a:r>
            <a:br>
              <a:rPr lang="en-IN" dirty="0"/>
            </a:br>
            <a:r>
              <a:rPr lang="en-IN" dirty="0"/>
              <a:t>├── models/</a:t>
            </a:r>
            <a:br>
              <a:rPr lang="en-IN" dirty="0"/>
            </a:br>
            <a:r>
              <a:rPr lang="en-IN" dirty="0"/>
              <a:t>│ └── </a:t>
            </a:r>
            <a:r>
              <a:rPr lang="en-IN" dirty="0" err="1"/>
              <a:t>fraud_model.pkl</a:t>
            </a:r>
            <a:br>
              <a:rPr lang="en-IN" dirty="0"/>
            </a:br>
            <a:r>
              <a:rPr lang="en-IN" dirty="0"/>
              <a:t>│</a:t>
            </a:r>
            <a:br>
              <a:rPr lang="en-IN" dirty="0"/>
            </a:br>
            <a:r>
              <a:rPr lang="en-IN" dirty="0"/>
              <a:t>├── reports/</a:t>
            </a:r>
            <a:br>
              <a:rPr lang="en-IN" dirty="0"/>
            </a:br>
            <a:r>
              <a:rPr lang="en-IN" dirty="0"/>
              <a:t>│ ├── Fraud_Detection_Presentation.pptx</a:t>
            </a:r>
            <a:br>
              <a:rPr lang="en-IN" dirty="0"/>
            </a:br>
            <a:r>
              <a:rPr lang="en-IN" dirty="0"/>
              <a:t>│ └── </a:t>
            </a:r>
            <a:r>
              <a:rPr lang="en-IN" dirty="0" err="1"/>
              <a:t>PowerBI_Dashboard.pbix</a:t>
            </a:r>
            <a:br>
              <a:rPr lang="en-IN" dirty="0"/>
            </a:br>
            <a:r>
              <a:rPr lang="en-IN" dirty="0"/>
              <a:t>│</a:t>
            </a:r>
            <a:br>
              <a:rPr lang="en-IN" dirty="0"/>
            </a:br>
            <a:r>
              <a:rPr lang="en-IN" dirty="0"/>
              <a:t>├── requirements.txt</a:t>
            </a:r>
            <a:br>
              <a:rPr lang="en-IN" dirty="0"/>
            </a:br>
            <a:r>
              <a:rPr lang="en-IN" dirty="0"/>
              <a:t>├── README.md</a:t>
            </a:r>
            <a:br>
              <a:rPr lang="en-IN" dirty="0"/>
            </a:br>
            <a:r>
              <a:rPr lang="en-IN" dirty="0"/>
              <a:t>└── .</a:t>
            </a:r>
            <a:r>
              <a:rPr lang="en-IN" dirty="0" err="1"/>
              <a:t>gitignore</a:t>
            </a:r>
            <a:endParaRPr lang="en-IN" dirty="0"/>
          </a:p>
          <a:p>
            <a:pPr marL="0" lvl="0" indent="0">
              <a:buNone/>
            </a:pPr>
            <a:endParaRPr lang="en-US" dirty="0"/>
          </a:p>
        </p:txBody>
      </p:sp>
    </p:spTree>
    <p:extLst>
      <p:ext uri="{BB962C8B-B14F-4D97-AF65-F5344CB8AC3E}">
        <p14:creationId xmlns:p14="http://schemas.microsoft.com/office/powerpoint/2010/main" val="22724594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9DB3DB-2D6A-4800-21E5-71369CC117F1}"/>
              </a:ext>
            </a:extLst>
          </p:cNvPr>
          <p:cNvSpPr>
            <a:spLocks noGrp="1"/>
          </p:cNvSpPr>
          <p:nvPr>
            <p:ph type="title"/>
          </p:nvPr>
        </p:nvSpPr>
        <p:spPr>
          <a:xfrm>
            <a:off x="678882" y="188844"/>
            <a:ext cx="6687118" cy="795130"/>
          </a:xfrm>
        </p:spPr>
        <p:txBody>
          <a:bodyPr/>
          <a:lstStyle/>
          <a:p>
            <a:r>
              <a:rPr lang="en-US" dirty="0">
                <a:highlight>
                  <a:srgbClr val="C0C0C0"/>
                </a:highlight>
              </a:rPr>
              <a:t>Technology Stack</a:t>
            </a:r>
            <a:endParaRPr lang="en-IN" dirty="0">
              <a:highlight>
                <a:srgbClr val="C0C0C0"/>
              </a:highlight>
            </a:endParaRPr>
          </a:p>
        </p:txBody>
      </p:sp>
      <p:sp>
        <p:nvSpPr>
          <p:cNvPr id="5" name="Content Placeholder 4">
            <a:extLst>
              <a:ext uri="{FF2B5EF4-FFF2-40B4-BE49-F238E27FC236}">
                <a16:creationId xmlns:a16="http://schemas.microsoft.com/office/drawing/2014/main" id="{911E276C-DF85-3591-E888-F5B1B9B1522C}"/>
              </a:ext>
            </a:extLst>
          </p:cNvPr>
          <p:cNvSpPr>
            <a:spLocks noGrp="1"/>
          </p:cNvSpPr>
          <p:nvPr>
            <p:ph idx="1"/>
          </p:nvPr>
        </p:nvSpPr>
        <p:spPr>
          <a:xfrm>
            <a:off x="377687" y="914400"/>
            <a:ext cx="6988313" cy="5143501"/>
          </a:xfrm>
        </p:spPr>
        <p:txBody>
          <a:bodyPr>
            <a:normAutofit fontScale="25000" lnSpcReduction="20000"/>
          </a:bodyPr>
          <a:lstStyle/>
          <a:p>
            <a:pPr marL="0" indent="0">
              <a:buNone/>
            </a:pPr>
            <a:r>
              <a:rPr lang="en-IN" sz="3600" dirty="0"/>
              <a:t>👩‍💻 </a:t>
            </a:r>
            <a:r>
              <a:rPr lang="en-IN" sz="3600" b="1" dirty="0"/>
              <a:t>Programming Language</a:t>
            </a:r>
          </a:p>
          <a:p>
            <a:r>
              <a:rPr lang="en-IN" sz="3600" dirty="0"/>
              <a:t> Python</a:t>
            </a:r>
          </a:p>
          <a:p>
            <a:pPr marL="0" indent="0">
              <a:buNone/>
            </a:pPr>
            <a:r>
              <a:rPr lang="en-IN" sz="3600" dirty="0"/>
              <a:t>📊 </a:t>
            </a:r>
            <a:r>
              <a:rPr lang="en-IN" sz="3600" b="1" dirty="0"/>
              <a:t>Data Analysis &amp; Manipulation</a:t>
            </a:r>
          </a:p>
          <a:p>
            <a:r>
              <a:rPr lang="en-IN" sz="3600" dirty="0"/>
              <a:t>Pandas</a:t>
            </a:r>
          </a:p>
          <a:p>
            <a:r>
              <a:rPr lang="en-IN" sz="3600" dirty="0"/>
              <a:t>NumPy</a:t>
            </a:r>
          </a:p>
          <a:p>
            <a:pPr marL="0" indent="0">
              <a:buNone/>
            </a:pPr>
            <a:r>
              <a:rPr lang="en-IN" sz="3600" dirty="0"/>
              <a:t>📈 </a:t>
            </a:r>
            <a:r>
              <a:rPr lang="en-IN" sz="3600" b="1" dirty="0"/>
              <a:t>Data Visualization</a:t>
            </a:r>
          </a:p>
          <a:p>
            <a:r>
              <a:rPr lang="en-IN" sz="3600" dirty="0"/>
              <a:t> Matplotlib</a:t>
            </a:r>
          </a:p>
          <a:p>
            <a:r>
              <a:rPr lang="en-IN" sz="3600" dirty="0"/>
              <a:t> Seaborn</a:t>
            </a:r>
          </a:p>
          <a:p>
            <a:r>
              <a:rPr lang="en-IN" sz="3600" dirty="0"/>
              <a:t> Power BI</a:t>
            </a:r>
          </a:p>
          <a:p>
            <a:pPr marL="0" indent="0">
              <a:buNone/>
            </a:pPr>
            <a:r>
              <a:rPr lang="en-IN" sz="3600" dirty="0"/>
              <a:t> 🤖 </a:t>
            </a:r>
            <a:r>
              <a:rPr lang="en-IN" sz="3600" b="1" dirty="0"/>
              <a:t>Machine Learning</a:t>
            </a:r>
          </a:p>
          <a:p>
            <a:r>
              <a:rPr lang="en-IN" sz="3600" dirty="0"/>
              <a:t> Scikit-learn</a:t>
            </a:r>
          </a:p>
          <a:p>
            <a:r>
              <a:rPr lang="en-IN" sz="3600" dirty="0"/>
              <a:t> Imbalanced-learn (SMOTE)</a:t>
            </a:r>
          </a:p>
          <a:p>
            <a:pPr marL="0" indent="0">
              <a:buNone/>
            </a:pPr>
            <a:r>
              <a:rPr lang="en-IN" sz="3600" dirty="0"/>
              <a:t> ⚙️ </a:t>
            </a:r>
            <a:r>
              <a:rPr lang="en-IN" sz="3600" b="1" dirty="0"/>
              <a:t>Model Evaluation</a:t>
            </a:r>
          </a:p>
          <a:p>
            <a:r>
              <a:rPr lang="en-IN" sz="3600" dirty="0"/>
              <a:t> Confusion Matrix</a:t>
            </a:r>
          </a:p>
          <a:p>
            <a:r>
              <a:rPr lang="en-IN" sz="3600" dirty="0"/>
              <a:t> Precision, Recall, F1-Score</a:t>
            </a:r>
          </a:p>
          <a:p>
            <a:r>
              <a:rPr lang="en-IN" sz="3600" dirty="0"/>
              <a:t> ROC-AUC</a:t>
            </a:r>
          </a:p>
          <a:p>
            <a:pPr marL="0" indent="0">
              <a:buNone/>
            </a:pPr>
            <a:r>
              <a:rPr lang="en-IN" sz="3600" dirty="0"/>
              <a:t> 💾 </a:t>
            </a:r>
            <a:r>
              <a:rPr lang="en-IN" sz="3600" b="1" dirty="0"/>
              <a:t>Model Deployment &amp; Storage</a:t>
            </a:r>
          </a:p>
          <a:p>
            <a:r>
              <a:rPr lang="en-IN" sz="3600" dirty="0"/>
              <a:t> </a:t>
            </a:r>
            <a:r>
              <a:rPr lang="en-IN" sz="3600" dirty="0" err="1"/>
              <a:t>Joblib</a:t>
            </a:r>
            <a:r>
              <a:rPr lang="en-IN" sz="3600" dirty="0"/>
              <a:t>  (Model Serialization)</a:t>
            </a:r>
          </a:p>
          <a:p>
            <a:pPr marL="0" indent="0">
              <a:buNone/>
            </a:pPr>
            <a:r>
              <a:rPr lang="en-IN" sz="3600" dirty="0"/>
              <a:t> 🧪 </a:t>
            </a:r>
            <a:r>
              <a:rPr lang="en-IN" sz="3600" b="1" dirty="0"/>
              <a:t>Development Environment</a:t>
            </a:r>
          </a:p>
          <a:p>
            <a:r>
              <a:rPr lang="en-IN" sz="3600" dirty="0"/>
              <a:t> </a:t>
            </a:r>
            <a:r>
              <a:rPr lang="en-IN" sz="3600" dirty="0" err="1"/>
              <a:t>Jupyter</a:t>
            </a:r>
            <a:r>
              <a:rPr lang="en-IN" sz="3600" dirty="0"/>
              <a:t> Notebook     </a:t>
            </a:r>
          </a:p>
          <a:p>
            <a:r>
              <a:rPr lang="en-IN" sz="3600" dirty="0"/>
              <a:t> VS Code</a:t>
            </a:r>
          </a:p>
          <a:p>
            <a:pPr marL="0" indent="0">
              <a:buNone/>
            </a:pPr>
            <a:r>
              <a:rPr lang="en-IN" sz="3600" dirty="0"/>
              <a:t>🔧</a:t>
            </a:r>
            <a:r>
              <a:rPr lang="en-IN" sz="3600" b="1" dirty="0"/>
              <a:t> Version Control</a:t>
            </a:r>
          </a:p>
          <a:p>
            <a:r>
              <a:rPr lang="en-IN" sz="3600" dirty="0"/>
              <a:t> Git and  GitHub</a:t>
            </a:r>
          </a:p>
          <a:p>
            <a:endParaRPr lang="en-IN" dirty="0"/>
          </a:p>
          <a:p>
            <a:pPr marL="0" indent="0">
              <a:buNone/>
            </a:pPr>
            <a:endParaRPr lang="en-IN" dirty="0"/>
          </a:p>
        </p:txBody>
      </p:sp>
    </p:spTree>
    <p:extLst>
      <p:ext uri="{BB962C8B-B14F-4D97-AF65-F5344CB8AC3E}">
        <p14:creationId xmlns:p14="http://schemas.microsoft.com/office/powerpoint/2010/main" val="13444202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861E21-436E-1486-135E-985CC83880B1}"/>
              </a:ext>
            </a:extLst>
          </p:cNvPr>
          <p:cNvSpPr>
            <a:spLocks noGrp="1"/>
          </p:cNvSpPr>
          <p:nvPr>
            <p:ph type="title"/>
          </p:nvPr>
        </p:nvSpPr>
        <p:spPr/>
        <p:txBody>
          <a:bodyPr>
            <a:normAutofit fontScale="90000"/>
          </a:bodyPr>
          <a:lstStyle/>
          <a:p>
            <a:r>
              <a:rPr lang="en-US" dirty="0">
                <a:highlight>
                  <a:srgbClr val="C0C0C0"/>
                </a:highlight>
              </a:rPr>
              <a:t>Data Exploration (EDA)</a:t>
            </a:r>
            <a:br>
              <a:rPr lang="en-US" dirty="0"/>
            </a:br>
            <a:endParaRPr lang="en-IN" dirty="0"/>
          </a:p>
        </p:txBody>
      </p:sp>
      <p:sp>
        <p:nvSpPr>
          <p:cNvPr id="3" name="Content Placeholder 2">
            <a:extLst>
              <a:ext uri="{FF2B5EF4-FFF2-40B4-BE49-F238E27FC236}">
                <a16:creationId xmlns:a16="http://schemas.microsoft.com/office/drawing/2014/main" id="{E5208E96-E9F5-C3E9-CA91-5DE49E2FD552}"/>
              </a:ext>
            </a:extLst>
          </p:cNvPr>
          <p:cNvSpPr>
            <a:spLocks noGrp="1"/>
          </p:cNvSpPr>
          <p:nvPr>
            <p:ph idx="1"/>
          </p:nvPr>
        </p:nvSpPr>
        <p:spPr>
          <a:xfrm>
            <a:off x="678884" y="1097280"/>
            <a:ext cx="10834234" cy="4975861"/>
          </a:xfrm>
        </p:spPr>
        <p:txBody>
          <a:bodyPr/>
          <a:lstStyle/>
          <a:p>
            <a:pPr marL="0" indent="0">
              <a:buNone/>
            </a:pPr>
            <a:r>
              <a:rPr lang="en-US" dirty="0"/>
              <a:t>• Performed detailed exploratory data analysis</a:t>
            </a:r>
            <a:br>
              <a:rPr lang="en-US" dirty="0"/>
            </a:br>
            <a:r>
              <a:rPr lang="en-US" dirty="0"/>
              <a:t>• Used visualizations to identify fraud patterns</a:t>
            </a:r>
            <a:br>
              <a:rPr lang="en-US" dirty="0"/>
            </a:br>
            <a:r>
              <a:rPr lang="en-US" dirty="0"/>
              <a:t>• Analyzed transaction distributions</a:t>
            </a:r>
            <a:br>
              <a:rPr lang="en-US" dirty="0"/>
            </a:br>
            <a:r>
              <a:rPr lang="en-US" dirty="0"/>
              <a:t>• Studied correlation between features</a:t>
            </a:r>
            <a:br>
              <a:rPr lang="en-US" dirty="0"/>
            </a:br>
            <a:r>
              <a:rPr lang="en-US" dirty="0"/>
              <a:t>• Identified class imbalance in fraud cases</a:t>
            </a:r>
          </a:p>
          <a:p>
            <a:endParaRPr lang="en-IN" dirty="0"/>
          </a:p>
        </p:txBody>
      </p:sp>
      <p:pic>
        <p:nvPicPr>
          <p:cNvPr id="5" name="Picture 4" descr="A graph with numbers and a bar">
            <a:extLst>
              <a:ext uri="{FF2B5EF4-FFF2-40B4-BE49-F238E27FC236}">
                <a16:creationId xmlns:a16="http://schemas.microsoft.com/office/drawing/2014/main" id="{F0129FF6-C603-75BB-1EDE-5DA140FDB14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46235" y="2152881"/>
            <a:ext cx="4253949" cy="3683052"/>
          </a:xfrm>
          <a:prstGeom prst="rect">
            <a:avLst/>
          </a:prstGeom>
        </p:spPr>
      </p:pic>
    </p:spTree>
    <p:extLst>
      <p:ext uri="{BB962C8B-B14F-4D97-AF65-F5344CB8AC3E}">
        <p14:creationId xmlns:p14="http://schemas.microsoft.com/office/powerpoint/2010/main" val="14536026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D7E6C6-D74D-120B-8E3E-6ACBE050DB34}"/>
              </a:ext>
            </a:extLst>
          </p:cNvPr>
          <p:cNvSpPr>
            <a:spLocks noGrp="1"/>
          </p:cNvSpPr>
          <p:nvPr>
            <p:ph type="title"/>
          </p:nvPr>
        </p:nvSpPr>
        <p:spPr/>
        <p:txBody>
          <a:bodyPr/>
          <a:lstStyle/>
          <a:p>
            <a:r>
              <a:rPr lang="en-US" dirty="0">
                <a:highlight>
                  <a:srgbClr val="C0C0C0"/>
                </a:highlight>
              </a:rPr>
              <a:t>Visuals of EDA</a:t>
            </a:r>
            <a:endParaRPr lang="en-IN" dirty="0">
              <a:highlight>
                <a:srgbClr val="C0C0C0"/>
              </a:highlight>
            </a:endParaRPr>
          </a:p>
        </p:txBody>
      </p:sp>
      <p:pic>
        <p:nvPicPr>
          <p:cNvPr id="5" name="Content Placeholder 4" descr="A screen shot of a graph&#10;&#10;AI-generated content may be incorrect.">
            <a:extLst>
              <a:ext uri="{FF2B5EF4-FFF2-40B4-BE49-F238E27FC236}">
                <a16:creationId xmlns:a16="http://schemas.microsoft.com/office/drawing/2014/main" id="{9B6CF8A3-A202-2944-599A-C62CD41AAEF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22922" y="1615178"/>
            <a:ext cx="5462190" cy="4398962"/>
          </a:xfrm>
          <a:prstGeom prst="rect">
            <a:avLst/>
          </a:prstGeom>
        </p:spPr>
      </p:pic>
      <p:pic>
        <p:nvPicPr>
          <p:cNvPr id="7" name="Picture 6" descr="A screenshot of a computer&#10;&#10;AI-generated content may be incorrect.">
            <a:extLst>
              <a:ext uri="{FF2B5EF4-FFF2-40B4-BE49-F238E27FC236}">
                <a16:creationId xmlns:a16="http://schemas.microsoft.com/office/drawing/2014/main" id="{E6B4C448-D47F-42AE-B96D-BCC461ED6A2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09114" y="834887"/>
            <a:ext cx="5032588" cy="4850295"/>
          </a:xfrm>
          <a:prstGeom prst="rect">
            <a:avLst/>
          </a:prstGeom>
        </p:spPr>
      </p:pic>
    </p:spTree>
    <p:extLst>
      <p:ext uri="{BB962C8B-B14F-4D97-AF65-F5344CB8AC3E}">
        <p14:creationId xmlns:p14="http://schemas.microsoft.com/office/powerpoint/2010/main" val="37431632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008A1DE-5DE3-B0C8-1021-E6EAA5E6663F}"/>
              </a:ext>
            </a:extLst>
          </p:cNvPr>
          <p:cNvSpPr>
            <a:spLocks noGrp="1"/>
          </p:cNvSpPr>
          <p:nvPr>
            <p:ph type="title"/>
          </p:nvPr>
        </p:nvSpPr>
        <p:spPr/>
        <p:txBody>
          <a:bodyPr/>
          <a:lstStyle/>
          <a:p>
            <a:r>
              <a:rPr lang="en-US" dirty="0">
                <a:highlight>
                  <a:srgbClr val="C0C0C0"/>
                </a:highlight>
              </a:rPr>
              <a:t>Data Preprocessing</a:t>
            </a:r>
            <a:endParaRPr lang="en-IN" dirty="0">
              <a:highlight>
                <a:srgbClr val="C0C0C0"/>
              </a:highlight>
            </a:endParaRPr>
          </a:p>
        </p:txBody>
      </p:sp>
      <p:sp>
        <p:nvSpPr>
          <p:cNvPr id="7" name="Content Placeholder 6">
            <a:extLst>
              <a:ext uri="{FF2B5EF4-FFF2-40B4-BE49-F238E27FC236}">
                <a16:creationId xmlns:a16="http://schemas.microsoft.com/office/drawing/2014/main" id="{C5FE2981-5BFD-6929-A021-E44693C315D4}"/>
              </a:ext>
            </a:extLst>
          </p:cNvPr>
          <p:cNvSpPr>
            <a:spLocks noGrp="1"/>
          </p:cNvSpPr>
          <p:nvPr>
            <p:ph idx="1"/>
          </p:nvPr>
        </p:nvSpPr>
        <p:spPr>
          <a:xfrm>
            <a:off x="596348" y="1216441"/>
            <a:ext cx="7137808" cy="4841460"/>
          </a:xfrm>
        </p:spPr>
        <p:txBody>
          <a:bodyPr/>
          <a:lstStyle/>
          <a:p>
            <a:pPr marL="0" indent="0">
              <a:buNone/>
            </a:pPr>
            <a:r>
              <a:rPr lang="en-US" dirty="0"/>
              <a:t>• Handled class imbalance using </a:t>
            </a:r>
            <a:r>
              <a:rPr lang="en-US" b="1" dirty="0"/>
              <a:t>SMOTE</a:t>
            </a:r>
            <a:br>
              <a:rPr lang="en-US" dirty="0"/>
            </a:br>
            <a:r>
              <a:rPr lang="en-US" dirty="0"/>
              <a:t>• Scaled numerical features using </a:t>
            </a:r>
            <a:r>
              <a:rPr lang="en-US" b="1" dirty="0" err="1"/>
              <a:t>StandardScaler</a:t>
            </a:r>
            <a:br>
              <a:rPr lang="en-US" dirty="0"/>
            </a:br>
            <a:r>
              <a:rPr lang="en-US" dirty="0"/>
              <a:t>• Encoded categorical variables</a:t>
            </a:r>
            <a:br>
              <a:rPr lang="en-US" dirty="0"/>
            </a:br>
            <a:r>
              <a:rPr lang="en-US" dirty="0"/>
              <a:t>• Split dataset into </a:t>
            </a:r>
            <a:r>
              <a:rPr lang="en-US" b="1" dirty="0"/>
              <a:t>training and testing sets</a:t>
            </a:r>
            <a:endParaRPr lang="en-US" dirty="0"/>
          </a:p>
          <a:p>
            <a:pPr marL="0" indent="0">
              <a:buNone/>
            </a:pPr>
            <a:endParaRPr lang="en-IN" dirty="0"/>
          </a:p>
        </p:txBody>
      </p:sp>
      <p:pic>
        <p:nvPicPr>
          <p:cNvPr id="10" name="Picture 9">
            <a:extLst>
              <a:ext uri="{FF2B5EF4-FFF2-40B4-BE49-F238E27FC236}">
                <a16:creationId xmlns:a16="http://schemas.microsoft.com/office/drawing/2014/main" id="{6869B5EF-23F1-816F-82EF-11E0E47926E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42821" y="3304015"/>
            <a:ext cx="6091335" cy="3175151"/>
          </a:xfrm>
          <a:prstGeom prst="rect">
            <a:avLst/>
          </a:prstGeom>
        </p:spPr>
      </p:pic>
    </p:spTree>
    <p:extLst>
      <p:ext uri="{BB962C8B-B14F-4D97-AF65-F5344CB8AC3E}">
        <p14:creationId xmlns:p14="http://schemas.microsoft.com/office/powerpoint/2010/main" val="40481835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BA2E58-FEC9-D54D-ACC0-E7CEEF5F42E4}"/>
              </a:ext>
            </a:extLst>
          </p:cNvPr>
          <p:cNvSpPr>
            <a:spLocks noGrp="1"/>
          </p:cNvSpPr>
          <p:nvPr>
            <p:ph type="title"/>
          </p:nvPr>
        </p:nvSpPr>
        <p:spPr/>
        <p:txBody>
          <a:bodyPr>
            <a:normAutofit/>
          </a:bodyPr>
          <a:lstStyle/>
          <a:p>
            <a:r>
              <a:rPr lang="en-US" dirty="0">
                <a:highlight>
                  <a:srgbClr val="C0C0C0"/>
                </a:highlight>
              </a:rPr>
              <a:t>MODEL SELECTION</a:t>
            </a:r>
          </a:p>
        </p:txBody>
      </p:sp>
      <p:sp>
        <p:nvSpPr>
          <p:cNvPr id="2" name="Content Placeholder 1">
            <a:extLst>
              <a:ext uri="{FF2B5EF4-FFF2-40B4-BE49-F238E27FC236}">
                <a16:creationId xmlns:a16="http://schemas.microsoft.com/office/drawing/2014/main" id="{C9565BAE-48A9-8300-4E79-87D77968413B}"/>
              </a:ext>
            </a:extLst>
          </p:cNvPr>
          <p:cNvSpPr>
            <a:spLocks noGrp="1"/>
          </p:cNvSpPr>
          <p:nvPr>
            <p:ph idx="1"/>
          </p:nvPr>
        </p:nvSpPr>
        <p:spPr/>
        <p:txBody>
          <a:bodyPr lIns="0" tIns="0" rIns="0" bIns="0" numCol="2">
            <a:normAutofit/>
          </a:bodyPr>
          <a:lstStyle/>
          <a:p>
            <a:pPr marL="0" indent="0">
              <a:buNone/>
            </a:pPr>
            <a:r>
              <a:rPr lang="en-US" sz="2400" dirty="0"/>
              <a:t>Machine Learning Models Used:</a:t>
            </a:r>
          </a:p>
          <a:p>
            <a:pPr marL="0" indent="0">
              <a:buNone/>
            </a:pPr>
            <a:br>
              <a:rPr lang="en-US" sz="2400" dirty="0"/>
            </a:br>
            <a:r>
              <a:rPr lang="en-US" sz="2400" dirty="0"/>
              <a:t>- Logistic Regression</a:t>
            </a:r>
            <a:br>
              <a:rPr lang="en-US" sz="2400" dirty="0"/>
            </a:br>
            <a:r>
              <a:rPr lang="en-US" sz="2400" dirty="0"/>
              <a:t>- Random Forest</a:t>
            </a:r>
            <a:br>
              <a:rPr lang="en-US" sz="2400" dirty="0"/>
            </a:br>
            <a:r>
              <a:rPr lang="en-US" sz="2400" dirty="0"/>
              <a:t>- Gradient Boosting </a:t>
            </a:r>
            <a:br>
              <a:rPr lang="en-US" sz="2400" dirty="0"/>
            </a:br>
            <a:br>
              <a:rPr lang="en-US" sz="2400" dirty="0"/>
            </a:br>
            <a:r>
              <a:rPr lang="en-US" sz="2400" dirty="0"/>
              <a:t>Models were compared based on performance metrics to select the best-performing algorithm.</a:t>
            </a:r>
            <a:br>
              <a:rPr lang="en-US" sz="2400" dirty="0"/>
            </a:br>
            <a:endParaRPr lang="en-IN" sz="2200" dirty="0"/>
          </a:p>
        </p:txBody>
      </p:sp>
      <p:pic>
        <p:nvPicPr>
          <p:cNvPr id="5" name="Picture 4" descr="A screen shot of a computer code&#10;&#10;AI-generated content may be incorrect.">
            <a:extLst>
              <a:ext uri="{FF2B5EF4-FFF2-40B4-BE49-F238E27FC236}">
                <a16:creationId xmlns:a16="http://schemas.microsoft.com/office/drawing/2014/main" id="{3890E53D-05CF-949A-EB4F-E89261B782A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91495" y="4103940"/>
            <a:ext cx="7744906" cy="1333686"/>
          </a:xfrm>
          <a:prstGeom prst="rect">
            <a:avLst/>
          </a:prstGeom>
        </p:spPr>
      </p:pic>
    </p:spTree>
    <p:extLst>
      <p:ext uri="{BB962C8B-B14F-4D97-AF65-F5344CB8AC3E}">
        <p14:creationId xmlns:p14="http://schemas.microsoft.com/office/powerpoint/2010/main" val="28459924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99AC68-6CE2-AB20-ABB0-D0CC355CA76B}"/>
              </a:ext>
            </a:extLst>
          </p:cNvPr>
          <p:cNvSpPr>
            <a:spLocks noGrp="1"/>
          </p:cNvSpPr>
          <p:nvPr>
            <p:ph type="title"/>
          </p:nvPr>
        </p:nvSpPr>
        <p:spPr/>
        <p:txBody>
          <a:bodyPr/>
          <a:lstStyle/>
          <a:p>
            <a:r>
              <a:rPr lang="en-US" dirty="0">
                <a:highlight>
                  <a:srgbClr val="C0C0C0"/>
                </a:highlight>
              </a:rPr>
              <a:t>MODEL EVALUATION</a:t>
            </a:r>
            <a:endParaRPr lang="en-IN" dirty="0">
              <a:highlight>
                <a:srgbClr val="C0C0C0"/>
              </a:highlight>
            </a:endParaRPr>
          </a:p>
        </p:txBody>
      </p:sp>
      <p:sp>
        <p:nvSpPr>
          <p:cNvPr id="3" name="Content Placeholder 2">
            <a:extLst>
              <a:ext uri="{FF2B5EF4-FFF2-40B4-BE49-F238E27FC236}">
                <a16:creationId xmlns:a16="http://schemas.microsoft.com/office/drawing/2014/main" id="{8FEEC853-1F9F-20CF-3DF2-5742F92ED0B3}"/>
              </a:ext>
            </a:extLst>
          </p:cNvPr>
          <p:cNvSpPr>
            <a:spLocks noGrp="1"/>
          </p:cNvSpPr>
          <p:nvPr>
            <p:ph idx="1"/>
          </p:nvPr>
        </p:nvSpPr>
        <p:spPr/>
        <p:txBody>
          <a:bodyPr/>
          <a:lstStyle/>
          <a:p>
            <a:pPr marL="0" indent="0">
              <a:buNone/>
            </a:pPr>
            <a:r>
              <a:rPr lang="en-IN" dirty="0"/>
              <a:t>📈 Model Evaluation Metrics:</a:t>
            </a:r>
          </a:p>
          <a:p>
            <a:pPr marL="0" indent="0">
              <a:buNone/>
            </a:pPr>
            <a:endParaRPr lang="en-IN" dirty="0"/>
          </a:p>
          <a:p>
            <a:pPr>
              <a:buFont typeface="Wingdings" panose="05000000000000000000" pitchFamily="2" charset="2"/>
              <a:buChar char="Ø"/>
            </a:pPr>
            <a:r>
              <a:rPr lang="en-IN" dirty="0"/>
              <a:t> Accuracy</a:t>
            </a:r>
          </a:p>
          <a:p>
            <a:pPr>
              <a:buFont typeface="Wingdings" panose="05000000000000000000" pitchFamily="2" charset="2"/>
              <a:buChar char="Ø"/>
            </a:pPr>
            <a:r>
              <a:rPr lang="en-IN" dirty="0"/>
              <a:t> Precision</a:t>
            </a:r>
          </a:p>
          <a:p>
            <a:pPr>
              <a:buFont typeface="Wingdings" panose="05000000000000000000" pitchFamily="2" charset="2"/>
              <a:buChar char="Ø"/>
            </a:pPr>
            <a:r>
              <a:rPr lang="en-IN" dirty="0"/>
              <a:t> Recall</a:t>
            </a:r>
          </a:p>
          <a:p>
            <a:pPr>
              <a:buFont typeface="Wingdings" panose="05000000000000000000" pitchFamily="2" charset="2"/>
              <a:buChar char="Ø"/>
            </a:pPr>
            <a:r>
              <a:rPr lang="en-IN" dirty="0"/>
              <a:t> F1 Score</a:t>
            </a:r>
          </a:p>
          <a:p>
            <a:pPr>
              <a:buFont typeface="Wingdings" panose="05000000000000000000" pitchFamily="2" charset="2"/>
              <a:buChar char="Ø"/>
            </a:pPr>
            <a:r>
              <a:rPr lang="en-IN" dirty="0"/>
              <a:t> ROC-AUC</a:t>
            </a:r>
          </a:p>
          <a:p>
            <a:pPr>
              <a:buFont typeface="Wingdings" panose="05000000000000000000" pitchFamily="2" charset="2"/>
              <a:buChar char="Ø"/>
            </a:pPr>
            <a:r>
              <a:rPr lang="en-IN" dirty="0"/>
              <a:t> Confusion Matrix</a:t>
            </a:r>
          </a:p>
          <a:p>
            <a:pPr marL="0" indent="0">
              <a:buNone/>
            </a:pPr>
            <a:endParaRPr lang="en-IN" dirty="0"/>
          </a:p>
        </p:txBody>
      </p:sp>
      <p:pic>
        <p:nvPicPr>
          <p:cNvPr id="5" name="Picture 4" descr="A screen shot of a computer program&#10;&#10;AI-generated content may be incorrect.">
            <a:extLst>
              <a:ext uri="{FF2B5EF4-FFF2-40B4-BE49-F238E27FC236}">
                <a16:creationId xmlns:a16="http://schemas.microsoft.com/office/drawing/2014/main" id="{D24C067C-C692-9659-C0C1-742BED8AE52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53339" y="2753140"/>
            <a:ext cx="7308933" cy="3027043"/>
          </a:xfrm>
          <a:prstGeom prst="rect">
            <a:avLst/>
          </a:prstGeom>
        </p:spPr>
      </p:pic>
    </p:spTree>
    <p:extLst>
      <p:ext uri="{BB962C8B-B14F-4D97-AF65-F5344CB8AC3E}">
        <p14:creationId xmlns:p14="http://schemas.microsoft.com/office/powerpoint/2010/main" val="5239704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70DE93-6C95-2A68-B7CA-002DD24D2649}"/>
              </a:ext>
            </a:extLst>
          </p:cNvPr>
          <p:cNvSpPr>
            <a:spLocks noGrp="1"/>
          </p:cNvSpPr>
          <p:nvPr>
            <p:ph type="title"/>
          </p:nvPr>
        </p:nvSpPr>
        <p:spPr/>
        <p:txBody>
          <a:bodyPr/>
          <a:lstStyle/>
          <a:p>
            <a:r>
              <a:rPr lang="en-US" dirty="0">
                <a:highlight>
                  <a:srgbClr val="C0C0C0"/>
                </a:highlight>
              </a:rPr>
              <a:t>COMPARISION TABLE</a:t>
            </a:r>
            <a:endParaRPr lang="en-IN" dirty="0">
              <a:highlight>
                <a:srgbClr val="C0C0C0"/>
              </a:highlight>
            </a:endParaRPr>
          </a:p>
        </p:txBody>
      </p:sp>
      <p:pic>
        <p:nvPicPr>
          <p:cNvPr id="8" name="Content Placeholder 7">
            <a:extLst>
              <a:ext uri="{FF2B5EF4-FFF2-40B4-BE49-F238E27FC236}">
                <a16:creationId xmlns:a16="http://schemas.microsoft.com/office/drawing/2014/main" id="{5ED28548-3C79-F680-0F92-711A14D0339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505747" y="1230312"/>
            <a:ext cx="4785004" cy="4397375"/>
          </a:xfrm>
          <a:prstGeom prst="rect">
            <a:avLst/>
          </a:prstGeom>
        </p:spPr>
      </p:pic>
      <p:sp>
        <p:nvSpPr>
          <p:cNvPr id="6" name="TextBox 5">
            <a:extLst>
              <a:ext uri="{FF2B5EF4-FFF2-40B4-BE49-F238E27FC236}">
                <a16:creationId xmlns:a16="http://schemas.microsoft.com/office/drawing/2014/main" id="{2D1B61BB-6021-4043-6C2F-EA648E8A96BF}"/>
              </a:ext>
            </a:extLst>
          </p:cNvPr>
          <p:cNvSpPr txBox="1"/>
          <p:nvPr/>
        </p:nvSpPr>
        <p:spPr>
          <a:xfrm>
            <a:off x="554936" y="2613991"/>
            <a:ext cx="3309731" cy="1200329"/>
          </a:xfrm>
          <a:prstGeom prst="rect">
            <a:avLst/>
          </a:prstGeom>
          <a:noFill/>
        </p:spPr>
        <p:txBody>
          <a:bodyPr wrap="square" rtlCol="0">
            <a:spAutoFit/>
          </a:bodyPr>
          <a:lstStyle/>
          <a:p>
            <a:pPr marL="285750" indent="-285750">
              <a:buFont typeface="Wingdings" panose="05000000000000000000" pitchFamily="2" charset="2"/>
              <a:buChar char="q"/>
            </a:pPr>
            <a:r>
              <a:rPr lang="en-US" b="1" dirty="0"/>
              <a:t>Special focus was given to Recall and Precision due to the high cost of missing fraudulent transactions.</a:t>
            </a:r>
            <a:endParaRPr lang="en-IN" b="1" dirty="0"/>
          </a:p>
        </p:txBody>
      </p:sp>
    </p:spTree>
    <p:extLst>
      <p:ext uri="{BB962C8B-B14F-4D97-AF65-F5344CB8AC3E}">
        <p14:creationId xmlns:p14="http://schemas.microsoft.com/office/powerpoint/2010/main" val="6120443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EEFC98-1F03-5109-664F-12DE83068D28}"/>
              </a:ext>
            </a:extLst>
          </p:cNvPr>
          <p:cNvSpPr>
            <a:spLocks noGrp="1"/>
          </p:cNvSpPr>
          <p:nvPr>
            <p:ph type="title"/>
          </p:nvPr>
        </p:nvSpPr>
        <p:spPr/>
        <p:txBody>
          <a:bodyPr/>
          <a:lstStyle/>
          <a:p>
            <a:r>
              <a:rPr lang="en-US" dirty="0">
                <a:highlight>
                  <a:srgbClr val="C0C0C0"/>
                </a:highlight>
              </a:rPr>
              <a:t>Final Model Selection</a:t>
            </a:r>
            <a:endParaRPr lang="en-IN" dirty="0">
              <a:highlight>
                <a:srgbClr val="C0C0C0"/>
              </a:highlight>
            </a:endParaRPr>
          </a:p>
        </p:txBody>
      </p:sp>
      <p:pic>
        <p:nvPicPr>
          <p:cNvPr id="6" name="Content Placeholder 5">
            <a:extLst>
              <a:ext uri="{FF2B5EF4-FFF2-40B4-BE49-F238E27FC236}">
                <a16:creationId xmlns:a16="http://schemas.microsoft.com/office/drawing/2014/main" id="{B08FF7F2-9CF3-23FA-4A13-7C57B73286A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027143" y="1105367"/>
            <a:ext cx="7055274" cy="4886804"/>
          </a:xfrm>
          <a:prstGeom prst="rect">
            <a:avLst/>
          </a:prstGeom>
        </p:spPr>
      </p:pic>
      <p:sp>
        <p:nvSpPr>
          <p:cNvPr id="7" name="TextBox 6">
            <a:extLst>
              <a:ext uri="{FF2B5EF4-FFF2-40B4-BE49-F238E27FC236}">
                <a16:creationId xmlns:a16="http://schemas.microsoft.com/office/drawing/2014/main" id="{0B89DAF3-913C-7DD5-99F9-75EA7F62E8E0}"/>
              </a:ext>
            </a:extLst>
          </p:cNvPr>
          <p:cNvSpPr txBox="1"/>
          <p:nvPr/>
        </p:nvSpPr>
        <p:spPr>
          <a:xfrm>
            <a:off x="678882" y="1669774"/>
            <a:ext cx="3932875" cy="4524315"/>
          </a:xfrm>
          <a:prstGeom prst="rect">
            <a:avLst/>
          </a:prstGeom>
          <a:noFill/>
        </p:spPr>
        <p:txBody>
          <a:bodyPr wrap="square" rtlCol="0">
            <a:spAutoFit/>
          </a:bodyPr>
          <a:lstStyle/>
          <a:p>
            <a:r>
              <a:rPr lang="en-US" dirty="0"/>
              <a:t>After comparing all models based on evaluation metrics, </a:t>
            </a:r>
            <a:r>
              <a:rPr lang="en-US" b="1" dirty="0"/>
              <a:t>Logistic Regression was selected as the final model</a:t>
            </a:r>
            <a:r>
              <a:rPr lang="en-US" dirty="0"/>
              <a:t>.</a:t>
            </a:r>
          </a:p>
          <a:p>
            <a:r>
              <a:rPr lang="en-US" dirty="0"/>
              <a:t>Reasons for selecting Logistic Regression:</a:t>
            </a:r>
          </a:p>
          <a:p>
            <a:r>
              <a:rPr lang="en-US" dirty="0"/>
              <a:t>• Achieved the </a:t>
            </a:r>
            <a:r>
              <a:rPr lang="en-US" b="1" dirty="0"/>
              <a:t>highest overall accuracy (98%)</a:t>
            </a:r>
            <a:br>
              <a:rPr lang="en-US" dirty="0"/>
            </a:br>
            <a:r>
              <a:rPr lang="en-US" dirty="0"/>
              <a:t>• Provided </a:t>
            </a:r>
            <a:r>
              <a:rPr lang="en-US" b="1" dirty="0"/>
              <a:t>strong recall (96%)</a:t>
            </a:r>
            <a:r>
              <a:rPr lang="en-US" dirty="0"/>
              <a:t>, ensuring most fraud cases were detected</a:t>
            </a:r>
            <a:br>
              <a:rPr lang="en-US" dirty="0"/>
            </a:br>
            <a:r>
              <a:rPr lang="en-US" dirty="0"/>
              <a:t>• Maintained </a:t>
            </a:r>
            <a:r>
              <a:rPr lang="en-US" b="1" dirty="0"/>
              <a:t>good precision (90%)</a:t>
            </a:r>
            <a:r>
              <a:rPr lang="en-US" dirty="0"/>
              <a:t>, reducing false alarms</a:t>
            </a:r>
            <a:br>
              <a:rPr lang="en-US" dirty="0"/>
            </a:br>
            <a:r>
              <a:rPr lang="en-US" dirty="0"/>
              <a:t>• Simple, interpretable, and efficient for real-time fraud detection.</a:t>
            </a:r>
          </a:p>
          <a:p>
            <a:endParaRPr lang="en-US" dirty="0"/>
          </a:p>
          <a:p>
            <a:r>
              <a:rPr lang="en-US" b="1" dirty="0"/>
              <a:t>Final Model:</a:t>
            </a:r>
            <a:r>
              <a:rPr lang="en-US" dirty="0"/>
              <a:t> Logistic Regression</a:t>
            </a:r>
          </a:p>
          <a:p>
            <a:endParaRPr lang="en-IN" dirty="0"/>
          </a:p>
        </p:txBody>
      </p:sp>
    </p:spTree>
    <p:extLst>
      <p:ext uri="{BB962C8B-B14F-4D97-AF65-F5344CB8AC3E}">
        <p14:creationId xmlns:p14="http://schemas.microsoft.com/office/powerpoint/2010/main" val="4652381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A00C56-DAE3-F384-7A07-BB7AA12FAAD6}"/>
              </a:ext>
            </a:extLst>
          </p:cNvPr>
          <p:cNvSpPr>
            <a:spLocks noGrp="1"/>
          </p:cNvSpPr>
          <p:nvPr>
            <p:ph type="title"/>
          </p:nvPr>
        </p:nvSpPr>
        <p:spPr/>
        <p:txBody>
          <a:bodyPr/>
          <a:lstStyle/>
          <a:p>
            <a:r>
              <a:rPr lang="en-US" dirty="0"/>
              <a:t>📊 </a:t>
            </a:r>
            <a:r>
              <a:rPr lang="en-US" dirty="0">
                <a:highlight>
                  <a:srgbClr val="C0C0C0"/>
                </a:highlight>
              </a:rPr>
              <a:t>Dashboard</a:t>
            </a:r>
            <a:endParaRPr lang="en-IN" dirty="0">
              <a:highlight>
                <a:srgbClr val="C0C0C0"/>
              </a:highlight>
            </a:endParaRPr>
          </a:p>
        </p:txBody>
      </p:sp>
      <p:sp>
        <p:nvSpPr>
          <p:cNvPr id="3" name="Content Placeholder 2">
            <a:extLst>
              <a:ext uri="{FF2B5EF4-FFF2-40B4-BE49-F238E27FC236}">
                <a16:creationId xmlns:a16="http://schemas.microsoft.com/office/drawing/2014/main" id="{BF9964E1-25E8-641E-6E39-4262B6DE02BF}"/>
              </a:ext>
            </a:extLst>
          </p:cNvPr>
          <p:cNvSpPr>
            <a:spLocks noGrp="1"/>
          </p:cNvSpPr>
          <p:nvPr>
            <p:ph idx="1"/>
          </p:nvPr>
        </p:nvSpPr>
        <p:spPr>
          <a:xfrm>
            <a:off x="168965" y="1216441"/>
            <a:ext cx="11344153" cy="4856700"/>
          </a:xfrm>
        </p:spPr>
        <p:txBody>
          <a:bodyPr/>
          <a:lstStyle/>
          <a:p>
            <a:pPr marL="0" indent="0">
              <a:buNone/>
            </a:pPr>
            <a:r>
              <a:rPr lang="en-US" dirty="0"/>
              <a:t>An interactive Power BI dashboard was developed to:</a:t>
            </a:r>
            <a:br>
              <a:rPr lang="en-US" dirty="0"/>
            </a:br>
            <a:r>
              <a:rPr lang="en-US" dirty="0"/>
              <a:t>- Monitor fraud trends</a:t>
            </a:r>
            <a:br>
              <a:rPr lang="en-US" dirty="0"/>
            </a:br>
            <a:r>
              <a:rPr lang="en-US" dirty="0"/>
              <a:t>- Track key </a:t>
            </a:r>
          </a:p>
          <a:p>
            <a:pPr marL="0" indent="0">
              <a:buNone/>
            </a:pPr>
            <a:r>
              <a:rPr lang="en-US" dirty="0"/>
              <a:t>performance metrics.</a:t>
            </a:r>
            <a:br>
              <a:rPr lang="en-US" dirty="0"/>
            </a:br>
            <a:r>
              <a:rPr lang="en-US" dirty="0"/>
              <a:t>- Provide insights to</a:t>
            </a:r>
          </a:p>
          <a:p>
            <a:pPr marL="0" indent="0">
              <a:buNone/>
            </a:pPr>
            <a:r>
              <a:rPr lang="en-US" dirty="0"/>
              <a:t>non-technical </a:t>
            </a:r>
          </a:p>
          <a:p>
            <a:pPr marL="0" indent="0">
              <a:buNone/>
            </a:pPr>
            <a:r>
              <a:rPr lang="en-US" dirty="0"/>
              <a:t>stakeholders</a:t>
            </a:r>
            <a:br>
              <a:rPr lang="en-US" dirty="0"/>
            </a:br>
            <a:endParaRPr lang="en-IN" dirty="0"/>
          </a:p>
        </p:txBody>
      </p:sp>
      <p:pic>
        <p:nvPicPr>
          <p:cNvPr id="5" name="Picture 4" descr="A screenshot of a computer&#10;&#10;AI-generated content may be incorrect.">
            <a:extLst>
              <a:ext uri="{FF2B5EF4-FFF2-40B4-BE49-F238E27FC236}">
                <a16:creationId xmlns:a16="http://schemas.microsoft.com/office/drawing/2014/main" id="{B671DE08-BA72-D468-3AD0-A1A6910BB7A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36953" y="1739348"/>
            <a:ext cx="7886082" cy="4333793"/>
          </a:xfrm>
          <a:prstGeom prst="rect">
            <a:avLst/>
          </a:prstGeom>
        </p:spPr>
      </p:pic>
    </p:spTree>
    <p:extLst>
      <p:ext uri="{BB962C8B-B14F-4D97-AF65-F5344CB8AC3E}">
        <p14:creationId xmlns:p14="http://schemas.microsoft.com/office/powerpoint/2010/main" val="33806729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DA788E-5078-DAC1-D681-7180F084B240}"/>
              </a:ext>
            </a:extLst>
          </p:cNvPr>
          <p:cNvSpPr>
            <a:spLocks noGrp="1"/>
          </p:cNvSpPr>
          <p:nvPr>
            <p:ph type="title"/>
          </p:nvPr>
        </p:nvSpPr>
        <p:spPr/>
        <p:txBody>
          <a:bodyPr/>
          <a:lstStyle/>
          <a:p>
            <a:r>
              <a:rPr lang="en-US" dirty="0">
                <a:highlight>
                  <a:srgbClr val="C0C0C0"/>
                </a:highlight>
              </a:rPr>
              <a:t>QUESTIONS</a:t>
            </a:r>
            <a:endParaRPr lang="en-IN" dirty="0">
              <a:highlight>
                <a:srgbClr val="C0C0C0"/>
              </a:highlight>
            </a:endParaRPr>
          </a:p>
        </p:txBody>
      </p:sp>
      <p:sp>
        <p:nvSpPr>
          <p:cNvPr id="3" name="Content Placeholder 2">
            <a:extLst>
              <a:ext uri="{FF2B5EF4-FFF2-40B4-BE49-F238E27FC236}">
                <a16:creationId xmlns:a16="http://schemas.microsoft.com/office/drawing/2014/main" id="{49658BD5-C38C-BBF6-892F-66E1889FB1B1}"/>
              </a:ext>
            </a:extLst>
          </p:cNvPr>
          <p:cNvSpPr>
            <a:spLocks noGrp="1"/>
          </p:cNvSpPr>
          <p:nvPr>
            <p:ph idx="1"/>
          </p:nvPr>
        </p:nvSpPr>
        <p:spPr>
          <a:xfrm>
            <a:off x="318052" y="1381539"/>
            <a:ext cx="11195066" cy="4691602"/>
          </a:xfrm>
        </p:spPr>
        <p:txBody>
          <a:bodyPr>
            <a:normAutofit fontScale="92500" lnSpcReduction="10000"/>
          </a:bodyPr>
          <a:lstStyle/>
          <a:p>
            <a:pPr marL="0" indent="0">
              <a:buNone/>
            </a:pPr>
            <a:r>
              <a:rPr lang="en-US" b="1" dirty="0"/>
              <a:t>1.What is the model's precision and accuracy in detecting fraudulent transactions?</a:t>
            </a:r>
          </a:p>
          <a:p>
            <a:pPr marL="0" indent="0">
              <a:buNone/>
            </a:pPr>
            <a:r>
              <a:rPr lang="en-US" b="1" u="sng" dirty="0"/>
              <a:t>Answer:</a:t>
            </a:r>
            <a:endParaRPr lang="en-US" u="sng" dirty="0"/>
          </a:p>
          <a:p>
            <a:r>
              <a:rPr lang="en-US" dirty="0"/>
              <a:t>The model achieved an overall accuracy of </a:t>
            </a:r>
            <a:r>
              <a:rPr lang="en-US" b="1" dirty="0"/>
              <a:t>98%</a:t>
            </a:r>
            <a:r>
              <a:rPr lang="en-US" dirty="0"/>
              <a:t>, meaning it correctly classified 98% of all transactions.</a:t>
            </a:r>
          </a:p>
          <a:p>
            <a:r>
              <a:rPr lang="en-US" dirty="0"/>
              <a:t>For fraudulent transactions specifically:</a:t>
            </a:r>
          </a:p>
          <a:p>
            <a:r>
              <a:rPr lang="en-US" b="1" dirty="0"/>
              <a:t>Precision = 90%</a:t>
            </a:r>
            <a:r>
              <a:rPr lang="en-US" dirty="0"/>
              <a:t> → When the model predicts fraud, it is correct 90% of the time.</a:t>
            </a:r>
          </a:p>
          <a:p>
            <a:r>
              <a:rPr lang="en-US" b="1" dirty="0"/>
              <a:t>Recall = 96%</a:t>
            </a:r>
            <a:r>
              <a:rPr lang="en-US" dirty="0"/>
              <a:t> → The model successfully detects 96% of all actual fraudulent transactions.</a:t>
            </a:r>
          </a:p>
          <a:p>
            <a:r>
              <a:rPr lang="en-US" b="1" dirty="0"/>
              <a:t>F1-score = 93%</a:t>
            </a:r>
            <a:r>
              <a:rPr lang="en-US" dirty="0"/>
              <a:t> → Shows strong balance between precision and recall.</a:t>
            </a:r>
          </a:p>
          <a:p>
            <a:pPr marL="0" indent="0">
              <a:buNone/>
            </a:pPr>
            <a:r>
              <a:rPr lang="en-US" dirty="0"/>
              <a:t> This indicates strong fraud detection performance.</a:t>
            </a:r>
          </a:p>
          <a:p>
            <a:endParaRPr lang="en-IN" dirty="0"/>
          </a:p>
        </p:txBody>
      </p:sp>
    </p:spTree>
    <p:extLst>
      <p:ext uri="{BB962C8B-B14F-4D97-AF65-F5344CB8AC3E}">
        <p14:creationId xmlns:p14="http://schemas.microsoft.com/office/powerpoint/2010/main" val="23212094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D59427-E4FB-2EA6-41D5-3E35769821F3}"/>
              </a:ext>
            </a:extLst>
          </p:cNvPr>
          <p:cNvSpPr>
            <a:spLocks noGrp="1"/>
          </p:cNvSpPr>
          <p:nvPr>
            <p:ph type="title"/>
          </p:nvPr>
        </p:nvSpPr>
        <p:spPr/>
        <p:txBody>
          <a:bodyPr/>
          <a:lstStyle/>
          <a:p>
            <a:r>
              <a:rPr lang="en-US" dirty="0"/>
              <a:t>2.How reliable is the model in classifying transactions?</a:t>
            </a:r>
            <a:endParaRPr lang="en-IN" dirty="0"/>
          </a:p>
        </p:txBody>
      </p:sp>
      <p:sp>
        <p:nvSpPr>
          <p:cNvPr id="3" name="Content Placeholder 2">
            <a:extLst>
              <a:ext uri="{FF2B5EF4-FFF2-40B4-BE49-F238E27FC236}">
                <a16:creationId xmlns:a16="http://schemas.microsoft.com/office/drawing/2014/main" id="{95032F7B-AD79-1191-CD3C-A287E192740A}"/>
              </a:ext>
            </a:extLst>
          </p:cNvPr>
          <p:cNvSpPr>
            <a:spLocks noGrp="1"/>
          </p:cNvSpPr>
          <p:nvPr>
            <p:ph idx="1"/>
          </p:nvPr>
        </p:nvSpPr>
        <p:spPr>
          <a:xfrm>
            <a:off x="278296" y="1216441"/>
            <a:ext cx="11234822" cy="4856700"/>
          </a:xfrm>
        </p:spPr>
        <p:txBody>
          <a:bodyPr/>
          <a:lstStyle/>
          <a:p>
            <a:pPr marL="0" indent="0">
              <a:buNone/>
            </a:pPr>
            <a:r>
              <a:rPr lang="en-US" dirty="0"/>
              <a:t>The model is highly reliable because:</a:t>
            </a:r>
          </a:p>
          <a:p>
            <a:r>
              <a:rPr lang="en-US" dirty="0"/>
              <a:t>It correctly identifies </a:t>
            </a:r>
            <a:r>
              <a:rPr lang="en-US" b="1" dirty="0"/>
              <a:t>218 out of 228 fraud cases</a:t>
            </a:r>
            <a:r>
              <a:rPr lang="en-US" dirty="0"/>
              <a:t>.</a:t>
            </a:r>
          </a:p>
          <a:p>
            <a:r>
              <a:rPr lang="en-US" dirty="0"/>
              <a:t>It misses only </a:t>
            </a:r>
            <a:r>
              <a:rPr lang="en-US" b="1" dirty="0"/>
              <a:t>10 fraudulent transactions</a:t>
            </a:r>
            <a:r>
              <a:rPr lang="en-US" dirty="0"/>
              <a:t> (very low false negatives).</a:t>
            </a:r>
          </a:p>
          <a:p>
            <a:r>
              <a:rPr lang="en-US" dirty="0"/>
              <a:t>It incorrectly flags only </a:t>
            </a:r>
            <a:r>
              <a:rPr lang="en-US" b="1" dirty="0"/>
              <a:t>25 legitimate transactions</a:t>
            </a:r>
            <a:r>
              <a:rPr lang="en-US" dirty="0"/>
              <a:t> as fraud.</a:t>
            </a:r>
          </a:p>
          <a:p>
            <a:r>
              <a:rPr lang="en-US" dirty="0"/>
              <a:t>The high recall (96%) ensures that very few fraud cases are missed, which is critical in financial systems.</a:t>
            </a:r>
          </a:p>
          <a:p>
            <a:r>
              <a:rPr lang="en-US" dirty="0"/>
              <a:t>The strong accuracy (98%) and F1-score (93%) confirm consistent performance across classes.</a:t>
            </a:r>
          </a:p>
          <a:p>
            <a:pPr marL="0" indent="0">
              <a:buNone/>
            </a:pPr>
            <a:r>
              <a:rPr lang="en-US" dirty="0"/>
              <a:t> Overall, the model provides stable and reliable fraud classification.</a:t>
            </a:r>
          </a:p>
          <a:p>
            <a:endParaRPr lang="en-IN" dirty="0"/>
          </a:p>
        </p:txBody>
      </p:sp>
    </p:spTree>
    <p:extLst>
      <p:ext uri="{BB962C8B-B14F-4D97-AF65-F5344CB8AC3E}">
        <p14:creationId xmlns:p14="http://schemas.microsoft.com/office/powerpoint/2010/main" val="13419590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971A98-0E37-78F4-A74F-FD03BE3897E2}"/>
              </a:ext>
            </a:extLst>
          </p:cNvPr>
          <p:cNvSpPr>
            <a:spLocks noGrp="1"/>
          </p:cNvSpPr>
          <p:nvPr>
            <p:ph type="title"/>
          </p:nvPr>
        </p:nvSpPr>
        <p:spPr/>
        <p:txBody>
          <a:bodyPr/>
          <a:lstStyle/>
          <a:p>
            <a:r>
              <a:rPr lang="en-US" dirty="0"/>
              <a:t>3. What are the potential losses due to model errors?</a:t>
            </a:r>
            <a:endParaRPr lang="en-IN" dirty="0"/>
          </a:p>
        </p:txBody>
      </p:sp>
      <p:sp>
        <p:nvSpPr>
          <p:cNvPr id="3" name="Content Placeholder 2">
            <a:extLst>
              <a:ext uri="{FF2B5EF4-FFF2-40B4-BE49-F238E27FC236}">
                <a16:creationId xmlns:a16="http://schemas.microsoft.com/office/drawing/2014/main" id="{8BB2F5EA-2F4E-F841-5EC3-DFF46F7F6238}"/>
              </a:ext>
            </a:extLst>
          </p:cNvPr>
          <p:cNvSpPr>
            <a:spLocks noGrp="1"/>
          </p:cNvSpPr>
          <p:nvPr>
            <p:ph idx="1"/>
          </p:nvPr>
        </p:nvSpPr>
        <p:spPr>
          <a:xfrm>
            <a:off x="178904" y="1216441"/>
            <a:ext cx="11334214" cy="4856700"/>
          </a:xfrm>
        </p:spPr>
        <p:txBody>
          <a:bodyPr>
            <a:normAutofit fontScale="70000" lnSpcReduction="20000"/>
          </a:bodyPr>
          <a:lstStyle/>
          <a:p>
            <a:pPr marL="0" indent="0">
              <a:buNone/>
            </a:pPr>
            <a:r>
              <a:rPr lang="en-US" dirty="0"/>
              <a:t>Here are two types of errors:</a:t>
            </a:r>
          </a:p>
          <a:p>
            <a:pPr marL="0" indent="0">
              <a:buNone/>
            </a:pPr>
            <a:r>
              <a:rPr lang="en-US" b="1" u="sng" dirty="0"/>
              <a:t>False Negatives (10 cases)</a:t>
            </a:r>
          </a:p>
          <a:p>
            <a:pPr marL="0" indent="0">
              <a:buNone/>
            </a:pPr>
            <a:r>
              <a:rPr lang="en-US" dirty="0"/>
              <a:t>Fraud predicted as legitimate.</a:t>
            </a:r>
          </a:p>
          <a:p>
            <a:pPr marL="0" indent="0">
              <a:buNone/>
            </a:pPr>
            <a:r>
              <a:rPr lang="en-US" dirty="0"/>
              <a:t>Impact:</a:t>
            </a:r>
          </a:p>
          <a:p>
            <a:r>
              <a:rPr lang="en-US" dirty="0"/>
              <a:t>Direct financial loss</a:t>
            </a:r>
          </a:p>
          <a:p>
            <a:r>
              <a:rPr lang="en-US" dirty="0"/>
              <a:t>These 10 transactions represent potential fraud not detected</a:t>
            </a:r>
          </a:p>
          <a:p>
            <a:r>
              <a:rPr lang="en-US" dirty="0"/>
              <a:t>This is the most critical error type.</a:t>
            </a:r>
          </a:p>
          <a:p>
            <a:pPr marL="0" indent="0">
              <a:buNone/>
            </a:pPr>
            <a:r>
              <a:rPr lang="en-US" b="1" dirty="0"/>
              <a:t> </a:t>
            </a:r>
            <a:r>
              <a:rPr lang="en-US" b="1" u="sng" dirty="0"/>
              <a:t>False Positives (25 cases)</a:t>
            </a:r>
          </a:p>
          <a:p>
            <a:pPr marL="0" indent="0">
              <a:buNone/>
            </a:pPr>
            <a:r>
              <a:rPr lang="en-US" dirty="0"/>
              <a:t>Legitimate transaction predicted as fraud.</a:t>
            </a:r>
          </a:p>
          <a:p>
            <a:pPr marL="0" indent="0">
              <a:buNone/>
            </a:pPr>
            <a:r>
              <a:rPr lang="en-US" dirty="0"/>
              <a:t>Impact:</a:t>
            </a:r>
          </a:p>
          <a:p>
            <a:r>
              <a:rPr lang="en-US" dirty="0"/>
              <a:t>Customer inconvenience</a:t>
            </a:r>
          </a:p>
          <a:p>
            <a:r>
              <a:rPr lang="en-US" dirty="0"/>
              <a:t>Manual review cost</a:t>
            </a:r>
          </a:p>
          <a:p>
            <a:r>
              <a:rPr lang="en-US" dirty="0"/>
              <a:t>Temporary transaction blocking</a:t>
            </a:r>
          </a:p>
          <a:p>
            <a:r>
              <a:rPr lang="en-US" dirty="0"/>
              <a:t>These do not cause direct financial loss but may affect customer experience.</a:t>
            </a:r>
          </a:p>
          <a:p>
            <a:endParaRPr lang="en-IN" dirty="0"/>
          </a:p>
        </p:txBody>
      </p:sp>
    </p:spTree>
    <p:extLst>
      <p:ext uri="{BB962C8B-B14F-4D97-AF65-F5344CB8AC3E}">
        <p14:creationId xmlns:p14="http://schemas.microsoft.com/office/powerpoint/2010/main" val="29266485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D74329-C519-D208-F6E3-01AE5F14F442}"/>
              </a:ext>
            </a:extLst>
          </p:cNvPr>
          <p:cNvSpPr>
            <a:spLocks noGrp="1"/>
          </p:cNvSpPr>
          <p:nvPr>
            <p:ph type="title"/>
          </p:nvPr>
        </p:nvSpPr>
        <p:spPr/>
        <p:txBody>
          <a:bodyPr/>
          <a:lstStyle/>
          <a:p>
            <a:r>
              <a:rPr lang="en-US" dirty="0">
                <a:highlight>
                  <a:srgbClr val="C0C0C0"/>
                </a:highlight>
              </a:rPr>
              <a:t>Financial Impact </a:t>
            </a:r>
            <a:endParaRPr lang="en-IN" dirty="0">
              <a:highlight>
                <a:srgbClr val="C0C0C0"/>
              </a:highlight>
            </a:endParaRPr>
          </a:p>
        </p:txBody>
      </p:sp>
      <p:sp>
        <p:nvSpPr>
          <p:cNvPr id="3" name="Content Placeholder 2">
            <a:extLst>
              <a:ext uri="{FF2B5EF4-FFF2-40B4-BE49-F238E27FC236}">
                <a16:creationId xmlns:a16="http://schemas.microsoft.com/office/drawing/2014/main" id="{D845A72F-1548-4558-C439-7AD3F551B43B}"/>
              </a:ext>
            </a:extLst>
          </p:cNvPr>
          <p:cNvSpPr>
            <a:spLocks noGrp="1"/>
          </p:cNvSpPr>
          <p:nvPr>
            <p:ph idx="1"/>
          </p:nvPr>
        </p:nvSpPr>
        <p:spPr/>
        <p:txBody>
          <a:bodyPr>
            <a:normAutofit fontScale="92500" lnSpcReduction="20000"/>
          </a:bodyPr>
          <a:lstStyle/>
          <a:p>
            <a:r>
              <a:rPr lang="en-IN" b="1" dirty="0"/>
              <a:t>Correctly detected normal transactions/True </a:t>
            </a:r>
            <a:r>
              <a:rPr lang="en-IN" b="1" dirty="0" err="1"/>
              <a:t>Negitive</a:t>
            </a:r>
            <a:r>
              <a:rPr lang="en-IN" b="1" dirty="0"/>
              <a:t>(TN) = 1976</a:t>
            </a:r>
            <a:endParaRPr lang="en-IN" dirty="0"/>
          </a:p>
          <a:p>
            <a:r>
              <a:rPr lang="en-IN" b="1" dirty="0"/>
              <a:t>Normal transactions flagged as fraud/False Positive(FP) = 25</a:t>
            </a:r>
            <a:endParaRPr lang="en-IN" dirty="0"/>
          </a:p>
          <a:p>
            <a:r>
              <a:rPr lang="en-IN" b="1" dirty="0"/>
              <a:t>Fraud that was missed/False </a:t>
            </a:r>
            <a:r>
              <a:rPr lang="en-IN" b="1" dirty="0" err="1"/>
              <a:t>Negitive</a:t>
            </a:r>
            <a:r>
              <a:rPr lang="en-IN" b="1" dirty="0"/>
              <a:t>(FN) = 10</a:t>
            </a:r>
            <a:endParaRPr lang="en-IN" dirty="0"/>
          </a:p>
          <a:p>
            <a:r>
              <a:rPr lang="en-IN" b="1" dirty="0"/>
              <a:t>Correctly detected fraud/</a:t>
            </a:r>
            <a:r>
              <a:rPr lang="en-IN" b="1"/>
              <a:t>True Positive(TP) </a:t>
            </a:r>
            <a:r>
              <a:rPr lang="en-IN" b="1" dirty="0"/>
              <a:t>= 218</a:t>
            </a:r>
          </a:p>
          <a:p>
            <a:endParaRPr lang="en-IN" b="1" dirty="0"/>
          </a:p>
          <a:p>
            <a:pPr marL="0" indent="0">
              <a:buNone/>
            </a:pPr>
            <a:endParaRPr lang="en-IN" dirty="0"/>
          </a:p>
          <a:p>
            <a:pPr marL="0" indent="0">
              <a:buNone/>
            </a:pPr>
            <a:r>
              <a:rPr lang="en-IN" dirty="0"/>
              <a:t> </a:t>
            </a:r>
            <a:r>
              <a:rPr lang="en-IN" u="sng" dirty="0"/>
              <a:t>Let’s assume-</a:t>
            </a:r>
          </a:p>
          <a:p>
            <a:pPr marL="0" indent="0">
              <a:buNone/>
            </a:pPr>
            <a:r>
              <a:rPr lang="en-IN" dirty="0"/>
              <a:t> Average fraud amount = Rs 10000/-</a:t>
            </a:r>
          </a:p>
          <a:p>
            <a:pPr marL="0" indent="0">
              <a:buNone/>
            </a:pPr>
            <a:r>
              <a:rPr lang="en-IN" dirty="0"/>
              <a:t> Investigation cost per false positive =Rs 500/-</a:t>
            </a:r>
          </a:p>
        </p:txBody>
      </p:sp>
      <p:pic>
        <p:nvPicPr>
          <p:cNvPr id="7" name="Picture 6">
            <a:extLst>
              <a:ext uri="{FF2B5EF4-FFF2-40B4-BE49-F238E27FC236}">
                <a16:creationId xmlns:a16="http://schemas.microsoft.com/office/drawing/2014/main" id="{A82B7AF1-55F3-5A19-90D1-41C08EFD1B2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16487" y="139289"/>
            <a:ext cx="5981348" cy="1321619"/>
          </a:xfrm>
          <a:prstGeom prst="rect">
            <a:avLst/>
          </a:prstGeom>
        </p:spPr>
      </p:pic>
    </p:spTree>
    <p:extLst>
      <p:ext uri="{BB962C8B-B14F-4D97-AF65-F5344CB8AC3E}">
        <p14:creationId xmlns:p14="http://schemas.microsoft.com/office/powerpoint/2010/main" val="26996467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02B86F-C537-5555-F938-4584C9F84588}"/>
              </a:ext>
            </a:extLst>
          </p:cNvPr>
          <p:cNvSpPr>
            <a:spLocks noGrp="1"/>
          </p:cNvSpPr>
          <p:nvPr>
            <p:ph type="title"/>
          </p:nvPr>
        </p:nvSpPr>
        <p:spPr/>
        <p:txBody>
          <a:bodyPr/>
          <a:lstStyle/>
          <a:p>
            <a:r>
              <a:rPr lang="en-US" dirty="0">
                <a:highlight>
                  <a:srgbClr val="C0C0C0"/>
                </a:highlight>
              </a:rPr>
              <a:t>Calculations</a:t>
            </a:r>
            <a:endParaRPr lang="en-IN" dirty="0">
              <a:highlight>
                <a:srgbClr val="C0C0C0"/>
              </a:highlight>
            </a:endParaRPr>
          </a:p>
        </p:txBody>
      </p:sp>
      <p:sp>
        <p:nvSpPr>
          <p:cNvPr id="3" name="Content Placeholder 2">
            <a:extLst>
              <a:ext uri="{FF2B5EF4-FFF2-40B4-BE49-F238E27FC236}">
                <a16:creationId xmlns:a16="http://schemas.microsoft.com/office/drawing/2014/main" id="{B2D6F3FC-C9FA-F298-A97F-1A9B23BA810A}"/>
              </a:ext>
            </a:extLst>
          </p:cNvPr>
          <p:cNvSpPr>
            <a:spLocks noGrp="1"/>
          </p:cNvSpPr>
          <p:nvPr>
            <p:ph idx="1"/>
          </p:nvPr>
        </p:nvSpPr>
        <p:spPr/>
        <p:txBody>
          <a:bodyPr>
            <a:normAutofit lnSpcReduction="10000"/>
          </a:bodyPr>
          <a:lstStyle/>
          <a:p>
            <a:pPr marL="0" indent="0">
              <a:buNone/>
            </a:pPr>
            <a:r>
              <a:rPr lang="en-US" b="1" u="sng" dirty="0"/>
              <a:t>Prevented Loss</a:t>
            </a:r>
            <a:r>
              <a:rPr lang="en-US" b="1" dirty="0"/>
              <a:t>(Fraud caught)</a:t>
            </a:r>
          </a:p>
          <a:p>
            <a:pPr marL="0" indent="0">
              <a:buNone/>
            </a:pPr>
            <a:r>
              <a:rPr lang="en-IN" sz="1600" dirty="0"/>
              <a:t>TP*Average fraud amount  </a:t>
            </a:r>
          </a:p>
          <a:p>
            <a:pPr marL="0" indent="0">
              <a:buNone/>
            </a:pPr>
            <a:r>
              <a:rPr lang="en-IN" sz="1600" dirty="0"/>
              <a:t>218*10000</a:t>
            </a:r>
          </a:p>
          <a:p>
            <a:pPr marL="0" indent="0">
              <a:buNone/>
            </a:pPr>
            <a:r>
              <a:rPr lang="en-IN" sz="1600" dirty="0"/>
              <a:t>2180000             #So the model prevented Rs21,80,000 in fraud</a:t>
            </a:r>
          </a:p>
          <a:p>
            <a:pPr marL="0" indent="0">
              <a:buNone/>
            </a:pPr>
            <a:r>
              <a:rPr lang="en-IN" b="1" u="sng" dirty="0"/>
              <a:t>Loss due to Missed fraud</a:t>
            </a:r>
          </a:p>
          <a:p>
            <a:pPr marL="0" indent="0">
              <a:buNone/>
            </a:pPr>
            <a:r>
              <a:rPr lang="en-IN" sz="1600" dirty="0"/>
              <a:t>FN*Average fraud amount</a:t>
            </a:r>
          </a:p>
          <a:p>
            <a:pPr marL="0" indent="0">
              <a:buNone/>
            </a:pPr>
            <a:r>
              <a:rPr lang="en-IN" sz="1600" dirty="0"/>
              <a:t>10*10000</a:t>
            </a:r>
          </a:p>
          <a:p>
            <a:pPr marL="0" indent="0">
              <a:buNone/>
            </a:pPr>
            <a:r>
              <a:rPr lang="en-IN" sz="1600" dirty="0"/>
              <a:t>100000            #So missed fraud loss was Rs1,00,000</a:t>
            </a:r>
          </a:p>
          <a:p>
            <a:pPr marL="0" indent="0">
              <a:buNone/>
            </a:pPr>
            <a:r>
              <a:rPr lang="en-IN" b="1" u="sng" dirty="0"/>
              <a:t>False Alarm Cost</a:t>
            </a:r>
            <a:r>
              <a:rPr lang="en-IN" b="1" dirty="0"/>
              <a:t>(Operational Cost)</a:t>
            </a:r>
          </a:p>
          <a:p>
            <a:pPr marL="0" indent="0">
              <a:buNone/>
            </a:pPr>
            <a:r>
              <a:rPr lang="en-IN" sz="1600" dirty="0"/>
              <a:t>FP*Investigation cost per false positive</a:t>
            </a:r>
          </a:p>
          <a:p>
            <a:pPr marL="0" indent="0">
              <a:buNone/>
            </a:pPr>
            <a:r>
              <a:rPr lang="en-IN" sz="1600" dirty="0"/>
              <a:t>25*500</a:t>
            </a:r>
          </a:p>
          <a:p>
            <a:pPr marL="0" indent="0">
              <a:buNone/>
            </a:pPr>
            <a:r>
              <a:rPr lang="en-IN" sz="1600" dirty="0"/>
              <a:t>12500        #So operational cost was Rs12,500</a:t>
            </a:r>
          </a:p>
          <a:p>
            <a:pPr marL="0" indent="0">
              <a:buNone/>
            </a:pPr>
            <a:endParaRPr lang="en-IN" b="1" dirty="0"/>
          </a:p>
        </p:txBody>
      </p:sp>
    </p:spTree>
    <p:extLst>
      <p:ext uri="{BB962C8B-B14F-4D97-AF65-F5344CB8AC3E}">
        <p14:creationId xmlns:p14="http://schemas.microsoft.com/office/powerpoint/2010/main" val="23706191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419CCA-4EE3-D224-814F-A63DE55E6938}"/>
              </a:ext>
            </a:extLst>
          </p:cNvPr>
          <p:cNvSpPr>
            <a:spLocks noGrp="1"/>
          </p:cNvSpPr>
          <p:nvPr>
            <p:ph type="title"/>
          </p:nvPr>
        </p:nvSpPr>
        <p:spPr>
          <a:xfrm>
            <a:off x="678884" y="178904"/>
            <a:ext cx="10834234" cy="685469"/>
          </a:xfrm>
        </p:spPr>
        <p:txBody>
          <a:bodyPr/>
          <a:lstStyle/>
          <a:p>
            <a:r>
              <a:rPr lang="en-US" dirty="0">
                <a:highlight>
                  <a:srgbClr val="C0C0C0"/>
                </a:highlight>
              </a:rPr>
              <a:t>Net Financial Benefit</a:t>
            </a:r>
            <a:endParaRPr lang="en-IN" dirty="0">
              <a:highlight>
                <a:srgbClr val="C0C0C0"/>
              </a:highlight>
            </a:endParaRPr>
          </a:p>
        </p:txBody>
      </p:sp>
      <p:sp>
        <p:nvSpPr>
          <p:cNvPr id="3" name="Content Placeholder 2">
            <a:extLst>
              <a:ext uri="{FF2B5EF4-FFF2-40B4-BE49-F238E27FC236}">
                <a16:creationId xmlns:a16="http://schemas.microsoft.com/office/drawing/2014/main" id="{D4429F1A-0153-219D-0202-F759711210EB}"/>
              </a:ext>
            </a:extLst>
          </p:cNvPr>
          <p:cNvSpPr>
            <a:spLocks noGrp="1"/>
          </p:cNvSpPr>
          <p:nvPr>
            <p:ph idx="1"/>
          </p:nvPr>
        </p:nvSpPr>
        <p:spPr>
          <a:xfrm>
            <a:off x="149087" y="1053548"/>
            <a:ext cx="11364031" cy="5019593"/>
          </a:xfrm>
        </p:spPr>
        <p:txBody>
          <a:bodyPr>
            <a:normAutofit/>
          </a:bodyPr>
          <a:lstStyle/>
          <a:p>
            <a:pPr marL="0" indent="0">
              <a:buNone/>
            </a:pPr>
            <a:r>
              <a:rPr lang="en-IN" dirty="0"/>
              <a:t>(218*10000)−(10*10000)−(25*500) </a:t>
            </a:r>
          </a:p>
          <a:p>
            <a:pPr marL="0" indent="0">
              <a:buNone/>
            </a:pPr>
            <a:r>
              <a:rPr lang="en-IN" dirty="0"/>
              <a:t> = 2180000 − 100000 − 12500</a:t>
            </a:r>
          </a:p>
          <a:p>
            <a:pPr marL="0" indent="0" algn="ctr">
              <a:buNone/>
            </a:pPr>
            <a:r>
              <a:rPr lang="en-IN" b="1" u="sng" dirty="0"/>
              <a:t>Final Financial Impact</a:t>
            </a:r>
          </a:p>
          <a:p>
            <a:pPr marL="0" indent="0" algn="ctr">
              <a:buNone/>
            </a:pPr>
            <a:endParaRPr lang="en-IN" b="1" dirty="0"/>
          </a:p>
          <a:p>
            <a:pPr marL="0" indent="0" algn="ctr">
              <a:buNone/>
            </a:pPr>
            <a:endParaRPr lang="en-IN" b="1" dirty="0"/>
          </a:p>
          <a:p>
            <a:pPr marL="0" indent="0" algn="ctr">
              <a:buNone/>
            </a:pPr>
            <a:endParaRPr lang="en-IN" b="1" dirty="0"/>
          </a:p>
          <a:p>
            <a:pPr marL="0" indent="0" algn="ctr">
              <a:buNone/>
            </a:pPr>
            <a:endParaRPr lang="en-IN" b="1" dirty="0"/>
          </a:p>
          <a:p>
            <a:pPr marL="0" indent="0" algn="ctr">
              <a:buNone/>
            </a:pPr>
            <a:r>
              <a:rPr lang="en-US" sz="2000" b="1" u="sng" dirty="0">
                <a:latin typeface="Bahnschrift SemiLight SemiConde" panose="020B0502040204020203" pitchFamily="34" charset="0"/>
              </a:rPr>
              <a:t>Based on model performance, the fraud detection system prevented approximately Rs21.8 lakh in potential fraud losses. After accounting for missed fraud and investigation costs, the net financial benefit is approximately Rs20.67 lakh.</a:t>
            </a:r>
            <a:endParaRPr lang="en-IN" sz="2000" b="1" u="sng" dirty="0">
              <a:latin typeface="Bahnschrift SemiLight SemiConde" panose="020B0502040204020203" pitchFamily="34" charset="0"/>
            </a:endParaRPr>
          </a:p>
        </p:txBody>
      </p:sp>
      <p:graphicFrame>
        <p:nvGraphicFramePr>
          <p:cNvPr id="4" name="Table 3">
            <a:extLst>
              <a:ext uri="{FF2B5EF4-FFF2-40B4-BE49-F238E27FC236}">
                <a16:creationId xmlns:a16="http://schemas.microsoft.com/office/drawing/2014/main" id="{6F92FEAA-CD8C-2EA3-6BEC-1E62F2021ADD}"/>
              </a:ext>
            </a:extLst>
          </p:cNvPr>
          <p:cNvGraphicFramePr>
            <a:graphicFrameLocks noGrp="1"/>
          </p:cNvGraphicFramePr>
          <p:nvPr>
            <p:extLst>
              <p:ext uri="{D42A27DB-BD31-4B8C-83A1-F6EECF244321}">
                <p14:modId xmlns:p14="http://schemas.microsoft.com/office/powerpoint/2010/main" val="2101253116"/>
              </p:ext>
            </p:extLst>
          </p:nvPr>
        </p:nvGraphicFramePr>
        <p:xfrm>
          <a:off x="1848678" y="2554357"/>
          <a:ext cx="8311322" cy="1828800"/>
        </p:xfrm>
        <a:graphic>
          <a:graphicData uri="http://schemas.openxmlformats.org/drawingml/2006/table">
            <a:tbl>
              <a:tblPr firstRow="1" bandRow="1">
                <a:tableStyleId>{5C22544A-7EE6-4342-B048-85BDC9FD1C3A}</a:tableStyleId>
              </a:tblPr>
              <a:tblGrid>
                <a:gridCol w="4155661">
                  <a:extLst>
                    <a:ext uri="{9D8B030D-6E8A-4147-A177-3AD203B41FA5}">
                      <a16:colId xmlns:a16="http://schemas.microsoft.com/office/drawing/2014/main" val="267436340"/>
                    </a:ext>
                  </a:extLst>
                </a:gridCol>
                <a:gridCol w="4155661">
                  <a:extLst>
                    <a:ext uri="{9D8B030D-6E8A-4147-A177-3AD203B41FA5}">
                      <a16:colId xmlns:a16="http://schemas.microsoft.com/office/drawing/2014/main" val="3486712297"/>
                    </a:ext>
                  </a:extLst>
                </a:gridCol>
              </a:tblGrid>
              <a:tr h="322028">
                <a:tc>
                  <a:txBody>
                    <a:bodyPr/>
                    <a:lstStyle/>
                    <a:p>
                      <a:r>
                        <a:rPr lang="en-US" dirty="0"/>
                        <a:t>Metrics</a:t>
                      </a:r>
                      <a:endParaRPr lang="en-IN" dirty="0"/>
                    </a:p>
                  </a:txBody>
                  <a:tcPr/>
                </a:tc>
                <a:tc>
                  <a:txBody>
                    <a:bodyPr/>
                    <a:lstStyle/>
                    <a:p>
                      <a:r>
                        <a:rPr lang="en-US" dirty="0"/>
                        <a:t>Amount(Rs)</a:t>
                      </a:r>
                      <a:endParaRPr lang="en-IN" dirty="0"/>
                    </a:p>
                  </a:txBody>
                  <a:tcPr/>
                </a:tc>
                <a:extLst>
                  <a:ext uri="{0D108BD9-81ED-4DB2-BD59-A6C34878D82A}">
                    <a16:rowId xmlns:a16="http://schemas.microsoft.com/office/drawing/2014/main" val="820710276"/>
                  </a:ext>
                </a:extLst>
              </a:tr>
              <a:tr h="322028">
                <a:tc>
                  <a:txBody>
                    <a:bodyPr/>
                    <a:lstStyle/>
                    <a:p>
                      <a:r>
                        <a:rPr lang="en-US" dirty="0"/>
                        <a:t>Prevented fraud loss</a:t>
                      </a:r>
                      <a:endParaRPr lang="en-IN" dirty="0"/>
                    </a:p>
                  </a:txBody>
                  <a:tcPr/>
                </a:tc>
                <a:tc>
                  <a:txBody>
                    <a:bodyPr/>
                    <a:lstStyle/>
                    <a:p>
                      <a:r>
                        <a:rPr lang="en-US" dirty="0"/>
                        <a:t>Rs 21,80,000</a:t>
                      </a:r>
                      <a:endParaRPr lang="en-IN" dirty="0"/>
                    </a:p>
                  </a:txBody>
                  <a:tcPr/>
                </a:tc>
                <a:extLst>
                  <a:ext uri="{0D108BD9-81ED-4DB2-BD59-A6C34878D82A}">
                    <a16:rowId xmlns:a16="http://schemas.microsoft.com/office/drawing/2014/main" val="4205067833"/>
                  </a:ext>
                </a:extLst>
              </a:tr>
              <a:tr h="322028">
                <a:tc>
                  <a:txBody>
                    <a:bodyPr/>
                    <a:lstStyle/>
                    <a:p>
                      <a:r>
                        <a:rPr lang="en-US" dirty="0"/>
                        <a:t>Missed fraud loss</a:t>
                      </a:r>
                      <a:endParaRPr lang="en-IN" dirty="0"/>
                    </a:p>
                  </a:txBody>
                  <a:tcPr/>
                </a:tc>
                <a:tc>
                  <a:txBody>
                    <a:bodyPr/>
                    <a:lstStyle/>
                    <a:p>
                      <a:r>
                        <a:rPr lang="en-US" dirty="0"/>
                        <a:t>Rs 1,00,000</a:t>
                      </a:r>
                      <a:endParaRPr lang="en-IN" dirty="0"/>
                    </a:p>
                  </a:txBody>
                  <a:tcPr/>
                </a:tc>
                <a:extLst>
                  <a:ext uri="{0D108BD9-81ED-4DB2-BD59-A6C34878D82A}">
                    <a16:rowId xmlns:a16="http://schemas.microsoft.com/office/drawing/2014/main" val="3998167389"/>
                  </a:ext>
                </a:extLst>
              </a:tr>
              <a:tr h="322028">
                <a:tc>
                  <a:txBody>
                    <a:bodyPr/>
                    <a:lstStyle/>
                    <a:p>
                      <a:r>
                        <a:rPr lang="en-US" dirty="0"/>
                        <a:t>False Alarm cost</a:t>
                      </a:r>
                      <a:endParaRPr lang="en-IN" dirty="0"/>
                    </a:p>
                  </a:txBody>
                  <a:tcPr/>
                </a:tc>
                <a:tc>
                  <a:txBody>
                    <a:bodyPr/>
                    <a:lstStyle/>
                    <a:p>
                      <a:r>
                        <a:rPr lang="en-US" dirty="0"/>
                        <a:t>Rs 12,500</a:t>
                      </a:r>
                      <a:endParaRPr lang="en-IN" dirty="0"/>
                    </a:p>
                  </a:txBody>
                  <a:tcPr/>
                </a:tc>
                <a:extLst>
                  <a:ext uri="{0D108BD9-81ED-4DB2-BD59-A6C34878D82A}">
                    <a16:rowId xmlns:a16="http://schemas.microsoft.com/office/drawing/2014/main" val="783018146"/>
                  </a:ext>
                </a:extLst>
              </a:tr>
              <a:tr h="322028">
                <a:tc>
                  <a:txBody>
                    <a:bodyPr/>
                    <a:lstStyle/>
                    <a:p>
                      <a:r>
                        <a:rPr lang="en-US" b="1" dirty="0"/>
                        <a:t>Net Benefit</a:t>
                      </a:r>
                      <a:endParaRPr lang="en-IN" b="1" dirty="0"/>
                    </a:p>
                  </a:txBody>
                  <a:tcPr/>
                </a:tc>
                <a:tc>
                  <a:txBody>
                    <a:bodyPr/>
                    <a:lstStyle/>
                    <a:p>
                      <a:r>
                        <a:rPr lang="en-US" b="1" dirty="0"/>
                        <a:t>Rs 20,67,500</a:t>
                      </a:r>
                      <a:endParaRPr lang="en-IN" b="1" dirty="0"/>
                    </a:p>
                  </a:txBody>
                  <a:tcPr/>
                </a:tc>
                <a:extLst>
                  <a:ext uri="{0D108BD9-81ED-4DB2-BD59-A6C34878D82A}">
                    <a16:rowId xmlns:a16="http://schemas.microsoft.com/office/drawing/2014/main" val="3144166958"/>
                  </a:ext>
                </a:extLst>
              </a:tr>
            </a:tbl>
          </a:graphicData>
        </a:graphic>
      </p:graphicFrame>
    </p:spTree>
    <p:extLst>
      <p:ext uri="{BB962C8B-B14F-4D97-AF65-F5344CB8AC3E}">
        <p14:creationId xmlns:p14="http://schemas.microsoft.com/office/powerpoint/2010/main" val="19616254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88A8EE-DA25-76DB-E815-D3B0822F05B9}"/>
              </a:ext>
            </a:extLst>
          </p:cNvPr>
          <p:cNvSpPr>
            <a:spLocks noGrp="1"/>
          </p:cNvSpPr>
          <p:nvPr>
            <p:ph type="title"/>
          </p:nvPr>
        </p:nvSpPr>
        <p:spPr/>
        <p:txBody>
          <a:bodyPr>
            <a:normAutofit/>
          </a:bodyPr>
          <a:lstStyle/>
          <a:p>
            <a:r>
              <a:rPr lang="en-US" dirty="0">
                <a:highlight>
                  <a:srgbClr val="C0C0C0"/>
                </a:highlight>
              </a:rPr>
              <a:t>CONCLUSION</a:t>
            </a:r>
            <a:endParaRPr lang="en-IN" dirty="0">
              <a:highlight>
                <a:srgbClr val="C0C0C0"/>
              </a:highlight>
            </a:endParaRPr>
          </a:p>
        </p:txBody>
      </p:sp>
      <p:sp>
        <p:nvSpPr>
          <p:cNvPr id="3" name="Text Placeholder 2">
            <a:extLst>
              <a:ext uri="{FF2B5EF4-FFF2-40B4-BE49-F238E27FC236}">
                <a16:creationId xmlns:a16="http://schemas.microsoft.com/office/drawing/2014/main" id="{869ABF9E-143B-C144-2C18-79CAFFD7F5D1}"/>
              </a:ext>
            </a:extLst>
          </p:cNvPr>
          <p:cNvSpPr>
            <a:spLocks noGrp="1"/>
          </p:cNvSpPr>
          <p:nvPr>
            <p:ph idx="1"/>
          </p:nvPr>
        </p:nvSpPr>
        <p:spPr/>
        <p:txBody>
          <a:bodyPr>
            <a:normAutofit fontScale="70000" lnSpcReduction="20000"/>
          </a:bodyPr>
          <a:lstStyle/>
          <a:p>
            <a:r>
              <a:rPr lang="en-US" dirty="0"/>
              <a:t>This project successfully developed a machine learning-based fraud detection system for mobile financial transactions.</a:t>
            </a:r>
          </a:p>
          <a:p>
            <a:r>
              <a:rPr lang="en-US" dirty="0"/>
              <a:t>The final Logistic Regression model achieved:</a:t>
            </a:r>
          </a:p>
          <a:p>
            <a:pPr marL="0" indent="0">
              <a:buNone/>
            </a:pPr>
            <a:r>
              <a:rPr lang="en-US" dirty="0"/>
              <a:t>        • </a:t>
            </a:r>
            <a:r>
              <a:rPr lang="en-US" b="1" dirty="0"/>
              <a:t>98% overall accuracy</a:t>
            </a:r>
            <a:br>
              <a:rPr lang="en-US" dirty="0"/>
            </a:br>
            <a:r>
              <a:rPr lang="en-US" dirty="0"/>
              <a:t>        • </a:t>
            </a:r>
            <a:r>
              <a:rPr lang="en-US" b="1" dirty="0"/>
              <a:t>90% precision for fraud detection</a:t>
            </a:r>
            <a:br>
              <a:rPr lang="en-US" dirty="0"/>
            </a:br>
            <a:r>
              <a:rPr lang="en-US" dirty="0"/>
              <a:t>        • </a:t>
            </a:r>
            <a:r>
              <a:rPr lang="en-US" b="1" dirty="0"/>
              <a:t>96% recall for fraud cases</a:t>
            </a:r>
            <a:br>
              <a:rPr lang="en-US" dirty="0"/>
            </a:br>
            <a:r>
              <a:rPr lang="en-US" dirty="0"/>
              <a:t>        • Only </a:t>
            </a:r>
            <a:r>
              <a:rPr lang="en-US" b="1" dirty="0"/>
              <a:t>10 fraudulent transactions were missed</a:t>
            </a:r>
            <a:endParaRPr lang="en-US" dirty="0"/>
          </a:p>
          <a:p>
            <a:r>
              <a:rPr lang="en-US" dirty="0"/>
              <a:t>The model demonstrates strong capability in identifying fraudulent transactions while maintaining minimal false alarms.</a:t>
            </a:r>
          </a:p>
          <a:p>
            <a:r>
              <a:rPr lang="en-US" dirty="0"/>
              <a:t>The financial impact analysis indicates that the system significantly reduces potential financial losses and improves transaction security.</a:t>
            </a:r>
          </a:p>
          <a:p>
            <a:r>
              <a:rPr lang="en-US" dirty="0"/>
              <a:t>This project highlights the successful implementation of an end-to-end ML pipeline — from data preprocessing and model training to evaluation and business interpretation.</a:t>
            </a:r>
          </a:p>
          <a:p>
            <a:endParaRPr lang="en-IN" dirty="0"/>
          </a:p>
        </p:txBody>
      </p:sp>
    </p:spTree>
    <p:extLst>
      <p:ext uri="{BB962C8B-B14F-4D97-AF65-F5344CB8AC3E}">
        <p14:creationId xmlns:p14="http://schemas.microsoft.com/office/powerpoint/2010/main" val="21439882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1DBBFEC-17D0-1D96-6CDC-0E5B94EF077B}"/>
              </a:ext>
            </a:extLst>
          </p:cNvPr>
          <p:cNvSpPr/>
          <p:nvPr/>
        </p:nvSpPr>
        <p:spPr>
          <a:xfrm>
            <a:off x="0" y="2091872"/>
            <a:ext cx="12192000" cy="17653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600" b="1" dirty="0">
                <a:latin typeface="Calibri" panose="020F0502020204030204" pitchFamily="34" charset="0"/>
              </a:rPr>
              <a:t>Thank You!</a:t>
            </a:r>
            <a:endParaRPr lang="en-IN" sz="6600" b="1" dirty="0">
              <a:latin typeface="Calibri" panose="020F0502020204030204" pitchFamily="34" charset="0"/>
            </a:endParaRPr>
          </a:p>
        </p:txBody>
      </p:sp>
      <p:sp>
        <p:nvSpPr>
          <p:cNvPr id="2" name="TextBox 1">
            <a:extLst>
              <a:ext uri="{FF2B5EF4-FFF2-40B4-BE49-F238E27FC236}">
                <a16:creationId xmlns:a16="http://schemas.microsoft.com/office/drawing/2014/main" id="{C5C0409C-F94E-695E-8221-4C78BE439756}"/>
              </a:ext>
            </a:extLst>
          </p:cNvPr>
          <p:cNvSpPr txBox="1"/>
          <p:nvPr/>
        </p:nvSpPr>
        <p:spPr>
          <a:xfrm>
            <a:off x="397565" y="5585791"/>
            <a:ext cx="3558209" cy="1200329"/>
          </a:xfrm>
          <a:prstGeom prst="rect">
            <a:avLst/>
          </a:prstGeom>
          <a:noFill/>
        </p:spPr>
        <p:txBody>
          <a:bodyPr wrap="square" rtlCol="0">
            <a:spAutoFit/>
          </a:bodyPr>
          <a:lstStyle/>
          <a:p>
            <a:r>
              <a:rPr lang="en-US" b="1" dirty="0">
                <a:highlight>
                  <a:srgbClr val="8FAADC"/>
                </a:highlight>
              </a:rPr>
              <a:t>SIMRAN KHATNANI </a:t>
            </a:r>
          </a:p>
          <a:p>
            <a:r>
              <a:rPr lang="en-US" b="1" dirty="0">
                <a:highlight>
                  <a:srgbClr val="8FAADC"/>
                </a:highlight>
              </a:rPr>
              <a:t>MASTER DIPLOMA IN DATA SCIENCE AND AI</a:t>
            </a:r>
          </a:p>
          <a:p>
            <a:r>
              <a:rPr lang="en-US" b="1" dirty="0">
                <a:highlight>
                  <a:srgbClr val="8FAADC"/>
                </a:highlight>
              </a:rPr>
              <a:t>DATE:25-02-2026</a:t>
            </a:r>
          </a:p>
        </p:txBody>
      </p:sp>
    </p:spTree>
    <p:extLst>
      <p:ext uri="{BB962C8B-B14F-4D97-AF65-F5344CB8AC3E}">
        <p14:creationId xmlns:p14="http://schemas.microsoft.com/office/powerpoint/2010/main" val="2438371579"/>
      </p:ext>
    </p:extLst>
  </p:cSld>
  <p:clrMapOvr>
    <a:masterClrMapping/>
  </p:clrMapOvr>
</p:sld>
</file>

<file path=ppt/theme/theme1.xml><?xml version="1.0" encoding="utf-8"?>
<a:theme xmlns:a="http://schemas.openxmlformats.org/drawingml/2006/main" name="BIA Template">
  <a:themeElements>
    <a:clrScheme name="Custom 4">
      <a:dk1>
        <a:srgbClr val="161A3E"/>
      </a:dk1>
      <a:lt1>
        <a:sysClr val="window" lastClr="FFFFFF"/>
      </a:lt1>
      <a:dk2>
        <a:srgbClr val="44546A"/>
      </a:dk2>
      <a:lt2>
        <a:srgbClr val="E7E6E6"/>
      </a:lt2>
      <a:accent1>
        <a:srgbClr val="4472C4"/>
      </a:accent1>
      <a:accent2>
        <a:srgbClr val="ED7D31"/>
      </a:accent2>
      <a:accent3>
        <a:srgbClr val="44546A"/>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11548</TotalTime>
  <Words>1176</Words>
  <Application>Microsoft Office PowerPoint</Application>
  <PresentationFormat>Widescreen</PresentationFormat>
  <Paragraphs>149</Paragraphs>
  <Slides>20</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Bahnschrift SemiLight SemiConde</vt:lpstr>
      <vt:lpstr>Calibri</vt:lpstr>
      <vt:lpstr>Wingdings</vt:lpstr>
      <vt:lpstr>BIA Template</vt:lpstr>
      <vt:lpstr>PowerPoint Presentation</vt:lpstr>
      <vt:lpstr>Project Overview</vt:lpstr>
      <vt:lpstr>Project Structure</vt:lpstr>
      <vt:lpstr>Technology Stack</vt:lpstr>
      <vt:lpstr>Data Exploration (EDA) </vt:lpstr>
      <vt:lpstr>Visuals of EDA</vt:lpstr>
      <vt:lpstr>Data Preprocessing</vt:lpstr>
      <vt:lpstr>MODEL SELECTION</vt:lpstr>
      <vt:lpstr>MODEL EVALUATION</vt:lpstr>
      <vt:lpstr>COMPARISION TABLE</vt:lpstr>
      <vt:lpstr>Final Model Selection</vt:lpstr>
      <vt:lpstr>📊 Dashboard</vt:lpstr>
      <vt:lpstr>QUESTIONS</vt:lpstr>
      <vt:lpstr>2.How reliable is the model in classifying transactions?</vt:lpstr>
      <vt:lpstr>3. What are the potential losses due to model errors?</vt:lpstr>
      <vt:lpstr>Financial Impact </vt:lpstr>
      <vt:lpstr>Calculations</vt:lpstr>
      <vt:lpstr>Net Financial Benefit</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Aayush Shah</dc:creator>
  <cp:lastModifiedBy>Simran Khatnani</cp:lastModifiedBy>
  <cp:revision>2257</cp:revision>
  <dcterms:created xsi:type="dcterms:W3CDTF">2020-12-23T13:36:00Z</dcterms:created>
  <dcterms:modified xsi:type="dcterms:W3CDTF">2026-03-08T15:51:20Z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0B547D39C558497AB25C6414A889D07D</vt:lpwstr>
  </property>
  <property fmtid="{D5CDD505-2E9C-101B-9397-08002B2CF9AE}" pid="3" name="KSOProductBuildVer">
    <vt:lpwstr>1033-11.2.0.11306</vt:lpwstr>
  </property>
</Properties>
</file>